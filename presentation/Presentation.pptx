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1" r:id="rId2"/>
  </p:sldMasterIdLst>
  <p:notesMasterIdLst>
    <p:notesMasterId r:id="rId31"/>
  </p:notesMasterIdLst>
  <p:sldIdLst>
    <p:sldId id="280" r:id="rId3"/>
    <p:sldId id="282" r:id="rId4"/>
    <p:sldId id="272" r:id="rId5"/>
    <p:sldId id="286" r:id="rId6"/>
    <p:sldId id="283" r:id="rId7"/>
    <p:sldId id="284" r:id="rId8"/>
    <p:sldId id="287" r:id="rId9"/>
    <p:sldId id="289" r:id="rId10"/>
    <p:sldId id="290" r:id="rId11"/>
    <p:sldId id="288" r:id="rId12"/>
    <p:sldId id="295" r:id="rId13"/>
    <p:sldId id="292" r:id="rId14"/>
    <p:sldId id="308" r:id="rId15"/>
    <p:sldId id="293" r:id="rId16"/>
    <p:sldId id="294" r:id="rId17"/>
    <p:sldId id="299" r:id="rId18"/>
    <p:sldId id="300" r:id="rId19"/>
    <p:sldId id="301" r:id="rId20"/>
    <p:sldId id="302" r:id="rId21"/>
    <p:sldId id="305" r:id="rId22"/>
    <p:sldId id="303" r:id="rId23"/>
    <p:sldId id="304" r:id="rId24"/>
    <p:sldId id="306" r:id="rId25"/>
    <p:sldId id="307" r:id="rId26"/>
    <p:sldId id="296" r:id="rId27"/>
    <p:sldId id="297" r:id="rId28"/>
    <p:sldId id="298" r:id="rId29"/>
    <p:sldId id="269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50" userDrawn="1">
          <p15:clr>
            <a:srgbClr val="A4A3A4"/>
          </p15:clr>
        </p15:guide>
        <p15:guide id="3" pos="7423" userDrawn="1">
          <p15:clr>
            <a:srgbClr val="A4A3A4"/>
          </p15:clr>
        </p15:guide>
        <p15:guide id="4" orient="horz" pos="1361" userDrawn="1">
          <p15:clr>
            <a:srgbClr val="A4A3A4"/>
          </p15:clr>
        </p15:guide>
        <p15:guide id="5" orient="horz" pos="3932" userDrawn="1">
          <p15:clr>
            <a:srgbClr val="A4A3A4"/>
          </p15:clr>
        </p15:guide>
        <p15:guide id="6" orient="horz" pos="1194" userDrawn="1">
          <p15:clr>
            <a:srgbClr val="A4A3A4"/>
          </p15:clr>
        </p15:guide>
        <p15:guide id="7" pos="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6180" autoAdjust="0"/>
  </p:normalViewPr>
  <p:slideViewPr>
    <p:cSldViewPr snapToGrid="0" showGuides="1">
      <p:cViewPr>
        <p:scale>
          <a:sx n="150" d="100"/>
          <a:sy n="150" d="100"/>
        </p:scale>
        <p:origin x="616" y="216"/>
      </p:cViewPr>
      <p:guideLst>
        <p:guide orient="horz" pos="650"/>
        <p:guide pos="7423"/>
        <p:guide orient="horz" pos="1361"/>
        <p:guide orient="horz" pos="3932"/>
        <p:guide orient="horz" pos="1194"/>
        <p:guide pos="256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3AEB5-C303-4762-90A0-AF697EB357C4}" type="datetimeFigureOut">
              <a:rPr lang="de-DE" smtClean="0"/>
              <a:t>10.01.26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0C587F-9620-41AA-8442-404D6D5976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6886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0C587F-9620-41AA-8442-404D6D597627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1739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D731A-3018-CB68-E8FC-1D0D8D70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5612C35-2B2A-CB86-AB6F-497FC52DE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4273BC3-198A-3141-81A2-3D568C0B2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1DDAE0-6BF7-F913-3115-6BC8D7FF7D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0C587F-9620-41AA-8442-404D6D597627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9385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13C8D-417F-0C35-FBD5-4718BD390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B1937E7-1602-919E-9C78-624A19088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4D57EB7-FC1A-BDB1-EB7F-A6F1F1531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71B029-854B-A42F-5050-EA598F2D87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0C587F-9620-41AA-8442-404D6D597627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8046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B01F3-0D74-19AF-B038-A7824558B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399C60E-F443-15E6-43EF-3F7F92B92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05F422B-320C-DB50-5671-97940CEA5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7C09E6-727E-FDE7-825E-1133823F54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0C587F-9620-41AA-8442-404D6D597627}" type="slidenum">
              <a:rPr lang="de-DE" smtClean="0"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193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CADF3-42B2-7099-0B46-638392D2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D69FD72-EF03-F7FE-7A4E-EE153AD75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78982F7-8B15-86A6-AF1A-63604B235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8735C8-052F-0594-DCD9-CDBF10759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0C587F-9620-41AA-8442-404D6D597627}" type="slidenum">
              <a:rPr lang="de-DE" smtClean="0"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6176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0C587F-9620-41AA-8442-404D6D597627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9131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/Unter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0" y="1449388"/>
            <a:ext cx="12192000" cy="5408616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4176717"/>
            <a:ext cx="12192000" cy="2681286"/>
          </a:xfrm>
          <a:blipFill>
            <a:blip r:embed="rId2"/>
            <a:stretch>
              <a:fillRect/>
            </a:stretch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3601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of the presentation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CFB462B3-CEB1-499F-9A93-54BFC478EC1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06401" y="6984001"/>
            <a:ext cx="7375299" cy="216000"/>
          </a:xfrm>
        </p:spPr>
        <p:txBody>
          <a:bodyPr/>
          <a:lstStyle/>
          <a:p>
            <a:r>
              <a:rPr lang="en-US"/>
              <a:t>Nico Hofmann | M.Sc. Software Engineering | Winter Semester 2025/26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AD5C655-E4E0-43F9-B6D2-6069D0E19D5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9883778" y="6984001"/>
            <a:ext cx="1899711" cy="216000"/>
          </a:xfrm>
        </p:spPr>
        <p:txBody>
          <a:bodyPr/>
          <a:lstStyle/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C76965CB-8BC6-40F7-9EE1-139D5916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6401" y="260078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Campus Sontheim</a:t>
            </a:r>
          </a:p>
        </p:txBody>
      </p:sp>
      <p:sp>
        <p:nvSpPr>
          <p:cNvPr id="22" name="Vertikaler Textplatzhalter 2">
            <a:extLst>
              <a:ext uri="{FF2B5EF4-FFF2-40B4-BE49-F238E27FC236}">
                <a16:creationId xmlns:a16="http://schemas.microsoft.com/office/drawing/2014/main" id="{33F9B68E-1F14-4F70-9B07-D77470E5CBEB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1386000" y="5311011"/>
            <a:ext cx="10397484" cy="792000"/>
          </a:xfrm>
        </p:spPr>
        <p:txBody>
          <a:bodyPr vert="horz"/>
          <a:lstStyle>
            <a:lvl1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lang="de-DE" sz="2400" b="1" i="0" u="none" strike="noStrike" baseline="0" smtClean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Lecture topic Lecture topic Lecture topic Lecture topic Lecture topic Lecture topic</a:t>
            </a:r>
            <a:endParaRPr lang="en-US" dirty="0"/>
          </a:p>
        </p:txBody>
      </p:sp>
      <p:sp>
        <p:nvSpPr>
          <p:cNvPr id="23" name="Vertikaler Textplatzhalter 2">
            <a:extLst>
              <a:ext uri="{FF2B5EF4-FFF2-40B4-BE49-F238E27FC236}">
                <a16:creationId xmlns:a16="http://schemas.microsoft.com/office/drawing/2014/main" id="{6354D33E-28C2-47F2-851F-773C0FE0AB9E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1386000" y="6372000"/>
            <a:ext cx="10397489" cy="252000"/>
          </a:xfrm>
        </p:spPr>
        <p:txBody>
          <a:bodyPr vert="horz"/>
          <a:lstStyle>
            <a:lvl1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Referent / </a:t>
            </a:r>
            <a:r>
              <a:rPr lang="en-US" dirty="0" err="1"/>
              <a:t>Fakultät</a:t>
            </a:r>
            <a:r>
              <a:rPr lang="en-US" dirty="0"/>
              <a:t> / </a:t>
            </a:r>
            <a:r>
              <a:rPr lang="en-US" dirty="0" err="1"/>
              <a:t>Studiengang</a:t>
            </a:r>
            <a:r>
              <a:rPr lang="en-US" dirty="0"/>
              <a:t> | </a:t>
            </a:r>
            <a:r>
              <a:rPr lang="en-US" dirty="0" err="1"/>
              <a:t>WiSe</a:t>
            </a:r>
            <a:r>
              <a:rPr lang="en-US" dirty="0"/>
              <a:t>/</a:t>
            </a:r>
            <a:r>
              <a:rPr lang="en-US" dirty="0" err="1"/>
              <a:t>SoSe</a:t>
            </a:r>
            <a:r>
              <a:rPr lang="en-US" dirty="0"/>
              <a:t> 2017/19</a:t>
            </a:r>
          </a:p>
        </p:txBody>
      </p:sp>
      <p:sp>
        <p:nvSpPr>
          <p:cNvPr id="18" name="Vertikaler Textplatzhalter 2">
            <a:extLst>
              <a:ext uri="{FF2B5EF4-FFF2-40B4-BE49-F238E27FC236}">
                <a16:creationId xmlns:a16="http://schemas.microsoft.com/office/drawing/2014/main" id="{0066C18D-46D1-4FD0-B624-24CB6294D971}"/>
              </a:ext>
            </a:extLst>
          </p:cNvPr>
          <p:cNvSpPr>
            <a:spLocks noGrp="1" noChangeAspect="1"/>
          </p:cNvSpPr>
          <p:nvPr>
            <p:ph type="body" orient="vert" idx="21" hasCustomPrompt="1"/>
          </p:nvPr>
        </p:nvSpPr>
        <p:spPr>
          <a:xfrm>
            <a:off x="1152000" y="4904882"/>
            <a:ext cx="128025" cy="204840"/>
          </a:xfrm>
          <a:blipFill>
            <a:blip r:embed="rId3"/>
            <a:stretch>
              <a:fillRect/>
            </a:stretch>
          </a:blipFill>
        </p:spPr>
        <p:txBody>
          <a:bodyPr vert="horz" wrap="none" tIns="7200" rIns="2574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 baseline="0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dirty="0" err="1"/>
              <a:t>Bitte</a:t>
            </a:r>
            <a:r>
              <a:rPr lang="en-US" dirty="0"/>
              <a:t> </a:t>
            </a:r>
            <a:r>
              <a:rPr lang="en-US" dirty="0" err="1"/>
              <a:t>nicht</a:t>
            </a:r>
            <a:br>
              <a:rPr lang="en-US" dirty="0"/>
            </a:br>
            <a:r>
              <a:rPr lang="en-US" dirty="0" err="1"/>
              <a:t>verschieben</a:t>
            </a:r>
            <a:endParaRPr lang="en-US" dirty="0"/>
          </a:p>
        </p:txBody>
      </p:sp>
      <p:pic>
        <p:nvPicPr>
          <p:cNvPr id="19" name="Logo HHN">
            <a:extLst>
              <a:ext uri="{FF2B5EF4-FFF2-40B4-BE49-F238E27FC236}">
                <a16:creationId xmlns:a16="http://schemas.microsoft.com/office/drawing/2014/main" id="{E401AAA2-F595-411B-A3EF-57905A9882E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43084" y="305319"/>
            <a:ext cx="1940400" cy="903600"/>
          </a:xfrm>
          <a:prstGeom prst="rect">
            <a:avLst/>
          </a:prstGeom>
        </p:spPr>
      </p:pic>
      <p:grpSp>
        <p:nvGrpSpPr>
          <p:cNvPr id="20" name="Regieanweisungen">
            <a:extLst>
              <a:ext uri="{FF2B5EF4-FFF2-40B4-BE49-F238E27FC236}">
                <a16:creationId xmlns:a16="http://schemas.microsoft.com/office/drawing/2014/main" id="{3D64421D-DBFE-41AB-A378-7DBF9C4CC7F8}"/>
              </a:ext>
            </a:extLst>
          </p:cNvPr>
          <p:cNvGrpSpPr/>
          <p:nvPr userDrawn="1"/>
        </p:nvGrpSpPr>
        <p:grpSpPr>
          <a:xfrm>
            <a:off x="406398" y="-468000"/>
            <a:ext cx="14521602" cy="1980001"/>
            <a:chOff x="304800" y="-468001"/>
            <a:chExt cx="10891200" cy="1980001"/>
          </a:xfrm>
        </p:grpSpPr>
        <p:sp>
          <p:nvSpPr>
            <p:cNvPr id="24" name="Hilfslinien">
              <a:extLst>
                <a:ext uri="{FF2B5EF4-FFF2-40B4-BE49-F238E27FC236}">
                  <a16:creationId xmlns:a16="http://schemas.microsoft.com/office/drawing/2014/main" id="{0B19D590-8202-424B-810A-BA64C30D72E3}"/>
                </a:ext>
              </a:extLst>
            </p:cNvPr>
            <p:cNvSpPr txBox="1"/>
            <p:nvPr userDrawn="1"/>
          </p:nvSpPr>
          <p:spPr>
            <a:xfrm rot="10800000" flipH="1" flipV="1">
              <a:off x="4571999" y="-468000"/>
              <a:ext cx="42648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Show guides via Ribbon: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View &gt; Show &gt; 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tick</a:t>
              </a: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Guides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Zurücksetzen">
              <a:extLst>
                <a:ext uri="{FF2B5EF4-FFF2-40B4-BE49-F238E27FC236}">
                  <a16:creationId xmlns:a16="http://schemas.microsoft.com/office/drawing/2014/main" id="{CF7251AF-5343-4756-8000-8AB0335BAA99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Reset the slide back to its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original form via Ribbon: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Reset</a:t>
              </a:r>
            </a:p>
          </p:txBody>
        </p:sp>
        <p:sp>
          <p:nvSpPr>
            <p:cNvPr id="26" name="Layoutwechsel">
              <a:extLst>
                <a:ext uri="{FF2B5EF4-FFF2-40B4-BE49-F238E27FC236}">
                  <a16:creationId xmlns:a16="http://schemas.microsoft.com/office/drawing/2014/main" id="{A4325A29-EFA6-4867-99A1-E4058D882D4A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Change the slide layout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via Ribbon: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Layout</a:t>
              </a:r>
            </a:p>
          </p:txBody>
        </p:sp>
        <p:sp>
          <p:nvSpPr>
            <p:cNvPr id="38" name="Kopfzeile">
              <a:extLst>
                <a:ext uri="{FF2B5EF4-FFF2-40B4-BE49-F238E27FC236}">
                  <a16:creationId xmlns:a16="http://schemas.microsoft.com/office/drawing/2014/main" id="{CD985852-8EA5-4F1F-85D6-11C67C20F991}"/>
                </a:ext>
              </a:extLst>
            </p:cNvPr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Customize Header: </a:t>
              </a: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Insert &gt; Text &gt; Header &amp; Footer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263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1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0" y="1449388"/>
            <a:ext cx="12192000" cy="5408616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4176717"/>
            <a:ext cx="12192000" cy="2681286"/>
          </a:xfrm>
          <a:blipFill>
            <a:blip r:embed="rId2"/>
            <a:stretch>
              <a:fillRect/>
            </a:stretch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5030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06401" y="260078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Campus Sontheim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386000" y="6372000"/>
            <a:ext cx="10398013" cy="252000"/>
          </a:xfrm>
        </p:spPr>
        <p:txBody>
          <a:bodyPr/>
          <a:lstStyle>
            <a:lvl1pPr>
              <a:defRPr sz="1300" b="1" spc="6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Nico Hofmann | M.Sc. Software Engineering | Winter Semester 2025/26</a:t>
            </a:r>
          </a:p>
        </p:txBody>
      </p:sp>
      <p:sp>
        <p:nvSpPr>
          <p:cNvPr id="18" name="Vertikaler Textplatzhalter 2">
            <a:extLst>
              <a:ext uri="{FF2B5EF4-FFF2-40B4-BE49-F238E27FC236}">
                <a16:creationId xmlns:a16="http://schemas.microsoft.com/office/drawing/2014/main" id="{1F5623E0-8437-4337-9981-520C5E63F5F5}"/>
              </a:ext>
            </a:extLst>
          </p:cNvPr>
          <p:cNvSpPr>
            <a:spLocks noGrp="1" noChangeAspect="1"/>
          </p:cNvSpPr>
          <p:nvPr>
            <p:ph type="body" orient="vert" idx="13" hasCustomPrompt="1"/>
          </p:nvPr>
        </p:nvSpPr>
        <p:spPr>
          <a:xfrm>
            <a:off x="1026073" y="4914407"/>
            <a:ext cx="180000" cy="288000"/>
          </a:xfrm>
          <a:blipFill>
            <a:blip r:embed="rId3"/>
            <a:stretch>
              <a:fillRect/>
            </a:stretch>
          </a:blipFill>
        </p:spPr>
        <p:txBody>
          <a:bodyPr vert="horz" wrap="none" rIns="2376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 baseline="0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dirty="0" err="1"/>
              <a:t>Bitte</a:t>
            </a:r>
            <a:r>
              <a:rPr lang="en-US" dirty="0"/>
              <a:t> </a:t>
            </a:r>
            <a:r>
              <a:rPr lang="en-US" dirty="0" err="1"/>
              <a:t>nicht</a:t>
            </a:r>
            <a:br>
              <a:rPr lang="en-US" dirty="0"/>
            </a:br>
            <a:r>
              <a:rPr lang="en-US" dirty="0" err="1"/>
              <a:t>verschieben</a:t>
            </a:r>
            <a:endParaRPr lang="en-US" dirty="0"/>
          </a:p>
        </p:txBody>
      </p:sp>
      <p:sp>
        <p:nvSpPr>
          <p:cNvPr id="20" name="Foliennummernplatzhalter 10">
            <a:extLst>
              <a:ext uri="{FF2B5EF4-FFF2-40B4-BE49-F238E27FC236}">
                <a16:creationId xmlns:a16="http://schemas.microsoft.com/office/drawing/2014/main" id="{F1B52C2C-34E9-4D95-8194-0BDCF58A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5" name="Logo HHN">
            <a:extLst>
              <a:ext uri="{FF2B5EF4-FFF2-40B4-BE49-F238E27FC236}">
                <a16:creationId xmlns:a16="http://schemas.microsoft.com/office/drawing/2014/main" id="{294CBFEC-8F4B-4ECF-8079-424B2999F3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43084" y="305319"/>
            <a:ext cx="1940400" cy="903600"/>
          </a:xfrm>
          <a:prstGeom prst="rect">
            <a:avLst/>
          </a:prstGeom>
        </p:spPr>
      </p:pic>
      <p:grpSp>
        <p:nvGrpSpPr>
          <p:cNvPr id="19" name="Regieanweisungen">
            <a:extLst>
              <a:ext uri="{FF2B5EF4-FFF2-40B4-BE49-F238E27FC236}">
                <a16:creationId xmlns:a16="http://schemas.microsoft.com/office/drawing/2014/main" id="{47D6AE76-64DF-4253-87B7-D55F6FD314DC}"/>
              </a:ext>
            </a:extLst>
          </p:cNvPr>
          <p:cNvGrpSpPr/>
          <p:nvPr userDrawn="1"/>
        </p:nvGrpSpPr>
        <p:grpSpPr>
          <a:xfrm>
            <a:off x="406397" y="-468000"/>
            <a:ext cx="14521603" cy="7668001"/>
            <a:chOff x="304799" y="-468001"/>
            <a:chExt cx="10891201" cy="7668001"/>
          </a:xfrm>
        </p:grpSpPr>
        <p:sp>
          <p:nvSpPr>
            <p:cNvPr id="21" name="Hilfslinien">
              <a:extLst>
                <a:ext uri="{FF2B5EF4-FFF2-40B4-BE49-F238E27FC236}">
                  <a16:creationId xmlns:a16="http://schemas.microsoft.com/office/drawing/2014/main" id="{2E537BCA-0378-47EE-BA2E-AAE85C970D72}"/>
                </a:ext>
              </a:extLst>
            </p:cNvPr>
            <p:cNvSpPr txBox="1"/>
            <p:nvPr userDrawn="1"/>
          </p:nvSpPr>
          <p:spPr>
            <a:xfrm rot="10800000" flipH="1" flipV="1">
              <a:off x="4571999" y="-468000"/>
              <a:ext cx="42648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Show guides via Ribbon: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View &gt; Show &gt; 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tick</a:t>
              </a: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Guides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Zurücksetzen">
              <a:extLst>
                <a:ext uri="{FF2B5EF4-FFF2-40B4-BE49-F238E27FC236}">
                  <a16:creationId xmlns:a16="http://schemas.microsoft.com/office/drawing/2014/main" id="{AD2EC562-5E00-4380-99C6-0D2297D5D9CB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Reset the slide back to its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original form via Ribbon: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Reset</a:t>
              </a:r>
            </a:p>
          </p:txBody>
        </p:sp>
        <p:sp>
          <p:nvSpPr>
            <p:cNvPr id="23" name="Layoutwechsel">
              <a:extLst>
                <a:ext uri="{FF2B5EF4-FFF2-40B4-BE49-F238E27FC236}">
                  <a16:creationId xmlns:a16="http://schemas.microsoft.com/office/drawing/2014/main" id="{A38E1AA6-7755-41CA-B107-5CD24E5B648D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Change the slide layout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via Ribbon: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Layout</a:t>
              </a:r>
            </a:p>
          </p:txBody>
        </p:sp>
        <p:sp>
          <p:nvSpPr>
            <p:cNvPr id="33" name="Fußzeile">
              <a:extLst>
                <a:ext uri="{FF2B5EF4-FFF2-40B4-BE49-F238E27FC236}">
                  <a16:creationId xmlns:a16="http://schemas.microsoft.com/office/drawing/2014/main" id="{13AC3CA5-8992-43C8-9BDA-957D603ABF89}"/>
                </a:ext>
              </a:extLst>
            </p:cNvPr>
            <p:cNvSpPr txBox="1"/>
            <p:nvPr userDrawn="1"/>
          </p:nvSpPr>
          <p:spPr>
            <a:xfrm rot="10800000" flipH="1" flipV="1">
              <a:off x="304799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Customize footer: </a:t>
              </a: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Insert &gt; Text &gt; Header &amp; Footer</a:t>
              </a:r>
            </a:p>
          </p:txBody>
        </p:sp>
        <p:sp>
          <p:nvSpPr>
            <p:cNvPr id="34" name="Kopfzeile">
              <a:extLst>
                <a:ext uri="{FF2B5EF4-FFF2-40B4-BE49-F238E27FC236}">
                  <a16:creationId xmlns:a16="http://schemas.microsoft.com/office/drawing/2014/main" id="{4F387B6C-D72C-4FEE-AACF-55636C11E75D}"/>
                </a:ext>
              </a:extLst>
            </p:cNvPr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Customize Header: </a:t>
              </a: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Insert &gt; Text &gt; Header &amp; Footer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1409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1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 INSTITUTS-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0" y="1449388"/>
            <a:ext cx="12192000" cy="5408616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4176717"/>
            <a:ext cx="12192000" cy="2681286"/>
          </a:xfrm>
          <a:blipFill>
            <a:blip r:embed="rId2"/>
            <a:stretch>
              <a:fillRect/>
            </a:stretch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5030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06401" y="-359999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Campus Sontheim</a:t>
            </a:r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386000" y="6372000"/>
            <a:ext cx="10397484" cy="252000"/>
          </a:xfrm>
        </p:spPr>
        <p:txBody>
          <a:bodyPr/>
          <a:lstStyle>
            <a:lvl1pPr>
              <a:defRPr sz="1300" b="1" spc="6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Nico Hofmann | M.Sc. Software Engineering | Winter Semester 2025/26</a:t>
            </a:r>
          </a:p>
        </p:txBody>
      </p:sp>
      <p:sp>
        <p:nvSpPr>
          <p:cNvPr id="24" name="Vertikaler Textplatzhalter 2">
            <a:extLst>
              <a:ext uri="{FF2B5EF4-FFF2-40B4-BE49-F238E27FC236}">
                <a16:creationId xmlns:a16="http://schemas.microsoft.com/office/drawing/2014/main" id="{F57B46E9-4640-4F5B-9593-5773681046DA}"/>
              </a:ext>
            </a:extLst>
          </p:cNvPr>
          <p:cNvSpPr>
            <a:spLocks noGrp="1" noChangeAspect="1"/>
          </p:cNvSpPr>
          <p:nvPr>
            <p:ph type="body" orient="vert" idx="20" hasCustomPrompt="1"/>
          </p:nvPr>
        </p:nvSpPr>
        <p:spPr>
          <a:xfrm>
            <a:off x="1026000" y="4914406"/>
            <a:ext cx="180000" cy="288000"/>
          </a:xfrm>
          <a:blipFill>
            <a:blip r:embed="rId3"/>
            <a:stretch>
              <a:fillRect/>
            </a:stretch>
          </a:blipFill>
        </p:spPr>
        <p:txBody>
          <a:bodyPr vert="horz" wrap="none" rIns="2376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 baseline="0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dirty="0" err="1"/>
              <a:t>Bitte</a:t>
            </a:r>
            <a:r>
              <a:rPr lang="en-US" dirty="0"/>
              <a:t> </a:t>
            </a:r>
            <a:r>
              <a:rPr lang="en-US" dirty="0" err="1"/>
              <a:t>nicht</a:t>
            </a:r>
            <a:br>
              <a:rPr lang="en-US" dirty="0"/>
            </a:br>
            <a:r>
              <a:rPr lang="en-US" dirty="0" err="1"/>
              <a:t>verschieben</a:t>
            </a:r>
            <a:endParaRPr lang="en-US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54A18A00-C4DE-4EFB-897C-5FA7DAA4A4D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200" y="305319"/>
            <a:ext cx="2088000" cy="6984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PLACEHOLDER INSTITUTE LOGO load Logo via the button Insert Picture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BA0EB51-026E-42B4-8C5C-5B7C35506F2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622400" y="304709"/>
            <a:ext cx="2088000" cy="6984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PLACEHOLDER INSTITUTE LOGO load Logo via the button Insert Picture</a:t>
            </a:r>
          </a:p>
        </p:txBody>
      </p:sp>
      <p:sp>
        <p:nvSpPr>
          <p:cNvPr id="22" name="Foliennummernplatzhalter 10">
            <a:extLst>
              <a:ext uri="{FF2B5EF4-FFF2-40B4-BE49-F238E27FC236}">
                <a16:creationId xmlns:a16="http://schemas.microsoft.com/office/drawing/2014/main" id="{6548D90A-54FB-4C5B-81B4-F47C54D4D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9" name="Logo HHN">
            <a:extLst>
              <a:ext uri="{FF2B5EF4-FFF2-40B4-BE49-F238E27FC236}">
                <a16:creationId xmlns:a16="http://schemas.microsoft.com/office/drawing/2014/main" id="{540FD209-9B2E-49C5-ACDA-B6EF826BD8E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43084" y="305319"/>
            <a:ext cx="1940400" cy="903600"/>
          </a:xfrm>
          <a:prstGeom prst="rect">
            <a:avLst/>
          </a:prstGeom>
        </p:spPr>
      </p:pic>
      <p:grpSp>
        <p:nvGrpSpPr>
          <p:cNvPr id="20" name="Regieanweisungen">
            <a:extLst>
              <a:ext uri="{FF2B5EF4-FFF2-40B4-BE49-F238E27FC236}">
                <a16:creationId xmlns:a16="http://schemas.microsoft.com/office/drawing/2014/main" id="{B6F0E48E-A197-4EA9-A895-D82AA5BE5B30}"/>
              </a:ext>
            </a:extLst>
          </p:cNvPr>
          <p:cNvGrpSpPr/>
          <p:nvPr userDrawn="1"/>
        </p:nvGrpSpPr>
        <p:grpSpPr>
          <a:xfrm>
            <a:off x="406397" y="-467999"/>
            <a:ext cx="14521603" cy="7668000"/>
            <a:chOff x="304799" y="-468000"/>
            <a:chExt cx="10891201" cy="7668000"/>
          </a:xfrm>
        </p:grpSpPr>
        <p:sp>
          <p:nvSpPr>
            <p:cNvPr id="23" name="Hilfslinien">
              <a:extLst>
                <a:ext uri="{FF2B5EF4-FFF2-40B4-BE49-F238E27FC236}">
                  <a16:creationId xmlns:a16="http://schemas.microsoft.com/office/drawing/2014/main" id="{FF34F164-C8D1-4A62-BC29-AA721AA0A69A}"/>
                </a:ext>
              </a:extLst>
            </p:cNvPr>
            <p:cNvSpPr txBox="1"/>
            <p:nvPr userDrawn="1"/>
          </p:nvSpPr>
          <p:spPr>
            <a:xfrm rot="10800000" flipH="1" flipV="1">
              <a:off x="4571999" y="-468000"/>
              <a:ext cx="42648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Show guides via Ribbon: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View &gt; Show &gt; 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tick</a:t>
              </a: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Guides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Zurücksetzen">
              <a:extLst>
                <a:ext uri="{FF2B5EF4-FFF2-40B4-BE49-F238E27FC236}">
                  <a16:creationId xmlns:a16="http://schemas.microsoft.com/office/drawing/2014/main" id="{F7EBDEE9-DA2A-4508-8A96-E654688D2AFE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Reset the slide back to its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original form via Ribbon: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Reset</a:t>
              </a:r>
            </a:p>
          </p:txBody>
        </p:sp>
        <p:sp>
          <p:nvSpPr>
            <p:cNvPr id="26" name="Layoutwechsel">
              <a:extLst>
                <a:ext uri="{FF2B5EF4-FFF2-40B4-BE49-F238E27FC236}">
                  <a16:creationId xmlns:a16="http://schemas.microsoft.com/office/drawing/2014/main" id="{2DE5B1FC-02BE-46AD-A4B1-F6635A03B544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Change the slide layout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via Ribbon: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Layout</a:t>
              </a:r>
            </a:p>
          </p:txBody>
        </p:sp>
        <p:sp>
          <p:nvSpPr>
            <p:cNvPr id="37" name="Fußzeile">
              <a:extLst>
                <a:ext uri="{FF2B5EF4-FFF2-40B4-BE49-F238E27FC236}">
                  <a16:creationId xmlns:a16="http://schemas.microsoft.com/office/drawing/2014/main" id="{984A414F-FD68-4017-BCB5-429CA3073215}"/>
                </a:ext>
              </a:extLst>
            </p:cNvPr>
            <p:cNvSpPr txBox="1"/>
            <p:nvPr userDrawn="1"/>
          </p:nvSpPr>
          <p:spPr>
            <a:xfrm rot="10800000" flipH="1" flipV="1">
              <a:off x="304799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Customize footer: </a:t>
              </a: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Insert &gt; Text &gt; Header &amp; Footer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4078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1" userDrawn="1">
          <p15:clr>
            <a:srgbClr val="FBAE40"/>
          </p15:clr>
        </p15:guide>
        <p15:guide id="2" orient="horz" pos="91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727085" y="3768205"/>
            <a:ext cx="11056403" cy="1531425"/>
          </a:xfrm>
        </p:spPr>
        <p:txBody>
          <a:bodyPr anchor="t" anchorCtr="0"/>
          <a:lstStyle>
            <a:lvl1pPr algn="l">
              <a:lnSpc>
                <a:spcPct val="91000"/>
              </a:lnSpc>
              <a:defRPr sz="5201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06401" y="260078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Campus Sontheim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727081" y="5399999"/>
            <a:ext cx="11056403" cy="288000"/>
          </a:xfrm>
        </p:spPr>
        <p:txBody>
          <a:bodyPr/>
          <a:lstStyle>
            <a:lvl1pPr>
              <a:defRPr sz="1500" b="1" spc="8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Nico Hofmann | M.Sc. Software Engineering | Winter Semester 2025/26</a:t>
            </a:r>
          </a:p>
        </p:txBody>
      </p:sp>
      <p:pic>
        <p:nvPicPr>
          <p:cNvPr id="21" name="Pfeil">
            <a:extLst>
              <a:ext uri="{FF2B5EF4-FFF2-40B4-BE49-F238E27FC236}">
                <a16:creationId xmlns:a16="http://schemas.microsoft.com/office/drawing/2014/main" id="{9B7553C5-A51D-4F5E-A635-F506117CD78D}"/>
              </a:ext>
            </a:extLst>
          </p:cNvPr>
          <p:cNvPicPr preferRelativeResize="0"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943332"/>
            <a:ext cx="180000" cy="288000"/>
          </a:xfrm>
          <a:prstGeom prst="rect">
            <a:avLst/>
          </a:prstGeom>
        </p:spPr>
      </p:pic>
      <p:sp>
        <p:nvSpPr>
          <p:cNvPr id="23" name="Foliennummernplatzhalter 10">
            <a:extLst>
              <a:ext uri="{FF2B5EF4-FFF2-40B4-BE49-F238E27FC236}">
                <a16:creationId xmlns:a16="http://schemas.microsoft.com/office/drawing/2014/main" id="{24F3020E-5E4D-4241-944A-A34A6AA4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6" name="Logo HHN">
            <a:extLst>
              <a:ext uri="{FF2B5EF4-FFF2-40B4-BE49-F238E27FC236}">
                <a16:creationId xmlns:a16="http://schemas.microsoft.com/office/drawing/2014/main" id="{DC2EA3BA-E94F-491F-A263-862D23C273C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43192" y="305318"/>
            <a:ext cx="1940297" cy="901976"/>
          </a:xfrm>
          <a:prstGeom prst="rect">
            <a:avLst/>
          </a:prstGeom>
        </p:spPr>
      </p:pic>
      <p:grpSp>
        <p:nvGrpSpPr>
          <p:cNvPr id="20" name="Regieanweisungen">
            <a:extLst>
              <a:ext uri="{FF2B5EF4-FFF2-40B4-BE49-F238E27FC236}">
                <a16:creationId xmlns:a16="http://schemas.microsoft.com/office/drawing/2014/main" id="{54486513-B2F7-4A9E-9107-04DAE877CE2B}"/>
              </a:ext>
            </a:extLst>
          </p:cNvPr>
          <p:cNvGrpSpPr/>
          <p:nvPr userDrawn="1"/>
        </p:nvGrpSpPr>
        <p:grpSpPr>
          <a:xfrm>
            <a:off x="406397" y="-468000"/>
            <a:ext cx="14521603" cy="7668001"/>
            <a:chOff x="304799" y="-468001"/>
            <a:chExt cx="10891201" cy="7668001"/>
          </a:xfrm>
        </p:grpSpPr>
        <p:sp>
          <p:nvSpPr>
            <p:cNvPr id="22" name="Hilfslinien">
              <a:extLst>
                <a:ext uri="{FF2B5EF4-FFF2-40B4-BE49-F238E27FC236}">
                  <a16:creationId xmlns:a16="http://schemas.microsoft.com/office/drawing/2014/main" id="{C16E8043-DA79-40F8-8D1D-AC415567D048}"/>
                </a:ext>
              </a:extLst>
            </p:cNvPr>
            <p:cNvSpPr txBox="1"/>
            <p:nvPr userDrawn="1"/>
          </p:nvSpPr>
          <p:spPr>
            <a:xfrm rot="10800000" flipH="1" flipV="1">
              <a:off x="4571999" y="-468000"/>
              <a:ext cx="42648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Show guides via Ribbon: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View &gt; Show &gt; 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tick</a:t>
              </a: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Guides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Zurücksetzen">
              <a:extLst>
                <a:ext uri="{FF2B5EF4-FFF2-40B4-BE49-F238E27FC236}">
                  <a16:creationId xmlns:a16="http://schemas.microsoft.com/office/drawing/2014/main" id="{26D2A6E4-2FD7-4384-A885-2C1762191ED2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Reset the slide back to its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original form via Ribbon: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Reset</a:t>
              </a:r>
            </a:p>
          </p:txBody>
        </p:sp>
        <p:sp>
          <p:nvSpPr>
            <p:cNvPr id="25" name="Layoutwechsel">
              <a:extLst>
                <a:ext uri="{FF2B5EF4-FFF2-40B4-BE49-F238E27FC236}">
                  <a16:creationId xmlns:a16="http://schemas.microsoft.com/office/drawing/2014/main" id="{830F58C2-E9EF-47B7-A9E8-7982E7637424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Change the slide layout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via Ribbon: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Layout</a:t>
              </a:r>
            </a:p>
          </p:txBody>
        </p:sp>
        <p:sp>
          <p:nvSpPr>
            <p:cNvPr id="31" name="Fußzeile">
              <a:extLst>
                <a:ext uri="{FF2B5EF4-FFF2-40B4-BE49-F238E27FC236}">
                  <a16:creationId xmlns:a16="http://schemas.microsoft.com/office/drawing/2014/main" id="{210FA1D1-78FE-4DD8-AE03-CB8644302404}"/>
                </a:ext>
              </a:extLst>
            </p:cNvPr>
            <p:cNvSpPr txBox="1"/>
            <p:nvPr userDrawn="1"/>
          </p:nvSpPr>
          <p:spPr>
            <a:xfrm rot="10800000" flipH="1" flipV="1">
              <a:off x="304799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Customize footer: </a:t>
              </a: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Insert &gt; Text &gt; Header &amp; Footer</a:t>
              </a:r>
            </a:p>
          </p:txBody>
        </p: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5252AE4A-CC7F-44E4-9F94-406E44784A79}"/>
                </a:ext>
              </a:extLst>
            </p:cNvPr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Customize Header: </a:t>
              </a: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Insert &gt; Text &gt; Header &amp; Footer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3917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7"/>
          <a:stretch/>
        </p:blipFill>
        <p:spPr>
          <a:xfrm>
            <a:off x="0" y="1098550"/>
            <a:ext cx="12192000" cy="575945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530728" y="2160001"/>
            <a:ext cx="10252761" cy="1531425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4800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Subheading</a:t>
            </a:r>
            <a:br>
              <a:rPr lang="en-US" dirty="0"/>
            </a:br>
            <a:r>
              <a:rPr lang="en-US" dirty="0"/>
              <a:t>Separator page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Campus Sontheim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Nico Hofmann | M.Sc. Software Engineering | Winter Semester 2025/26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1530728" y="3905249"/>
            <a:ext cx="10252761" cy="2338391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Additional info</a:t>
            </a:r>
          </a:p>
        </p:txBody>
      </p:sp>
      <p:pic>
        <p:nvPicPr>
          <p:cNvPr id="23" name="Pfeil">
            <a:extLst>
              <a:ext uri="{FF2B5EF4-FFF2-40B4-BE49-F238E27FC236}">
                <a16:creationId xmlns:a16="http://schemas.microsoft.com/office/drawing/2014/main" id="{BDD3B1C6-5D65-4396-8DAA-35F5FC78C81C}"/>
              </a:ext>
            </a:extLst>
          </p:cNvPr>
          <p:cNvPicPr preferRelativeResize="0"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000" y="2376000"/>
            <a:ext cx="180000" cy="288000"/>
          </a:xfrm>
          <a:prstGeom prst="rect">
            <a:avLst/>
          </a:prstGeom>
        </p:spPr>
      </p:pic>
      <p:pic>
        <p:nvPicPr>
          <p:cNvPr id="20" name="Logo HHN">
            <a:extLst>
              <a:ext uri="{FF2B5EF4-FFF2-40B4-BE49-F238E27FC236}">
                <a16:creationId xmlns:a16="http://schemas.microsoft.com/office/drawing/2014/main" id="{1F838209-9061-4C52-A3F6-8BF3423A5D6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50183" y="307131"/>
            <a:ext cx="1333301" cy="619200"/>
          </a:xfrm>
          <a:prstGeom prst="rect">
            <a:avLst/>
          </a:prstGeom>
        </p:spPr>
      </p:pic>
      <p:grpSp>
        <p:nvGrpSpPr>
          <p:cNvPr id="22" name="Regieanweisungen">
            <a:extLst>
              <a:ext uri="{FF2B5EF4-FFF2-40B4-BE49-F238E27FC236}">
                <a16:creationId xmlns:a16="http://schemas.microsoft.com/office/drawing/2014/main" id="{7A76FA23-6904-44A1-AA67-E27CCD0DAE5C}"/>
              </a:ext>
            </a:extLst>
          </p:cNvPr>
          <p:cNvGrpSpPr/>
          <p:nvPr userDrawn="1"/>
        </p:nvGrpSpPr>
        <p:grpSpPr>
          <a:xfrm>
            <a:off x="406397" y="-468000"/>
            <a:ext cx="14521603" cy="7668001"/>
            <a:chOff x="304799" y="-468001"/>
            <a:chExt cx="10891201" cy="7668001"/>
          </a:xfrm>
        </p:grpSpPr>
        <p:sp>
          <p:nvSpPr>
            <p:cNvPr id="24" name="Hilfslinien">
              <a:extLst>
                <a:ext uri="{FF2B5EF4-FFF2-40B4-BE49-F238E27FC236}">
                  <a16:creationId xmlns:a16="http://schemas.microsoft.com/office/drawing/2014/main" id="{FD8E7FED-134D-47A9-816B-6A45070E270E}"/>
                </a:ext>
              </a:extLst>
            </p:cNvPr>
            <p:cNvSpPr txBox="1"/>
            <p:nvPr userDrawn="1"/>
          </p:nvSpPr>
          <p:spPr>
            <a:xfrm rot="10800000" flipH="1" flipV="1">
              <a:off x="4571999" y="-468000"/>
              <a:ext cx="42648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Show guides via Ribbon: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View &gt; Show &gt; 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tick</a:t>
              </a: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Guides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Zurücksetzen">
              <a:extLst>
                <a:ext uri="{FF2B5EF4-FFF2-40B4-BE49-F238E27FC236}">
                  <a16:creationId xmlns:a16="http://schemas.microsoft.com/office/drawing/2014/main" id="{CE65A194-BDC9-48CF-BEFE-535518FC4DA3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Reset the slide back to its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original form via Ribbon: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Reset</a:t>
              </a:r>
            </a:p>
          </p:txBody>
        </p:sp>
        <p:sp>
          <p:nvSpPr>
            <p:cNvPr id="26" name="Layoutwechsel">
              <a:extLst>
                <a:ext uri="{FF2B5EF4-FFF2-40B4-BE49-F238E27FC236}">
                  <a16:creationId xmlns:a16="http://schemas.microsoft.com/office/drawing/2014/main" id="{90A8388C-D616-4B5A-8E8B-D8A5E21F518D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Change the slide layout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via Ribbon: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Layout</a:t>
              </a:r>
            </a:p>
          </p:txBody>
        </p:sp>
        <p:sp>
          <p:nvSpPr>
            <p:cNvPr id="32" name="Fußzeile">
              <a:extLst>
                <a:ext uri="{FF2B5EF4-FFF2-40B4-BE49-F238E27FC236}">
                  <a16:creationId xmlns:a16="http://schemas.microsoft.com/office/drawing/2014/main" id="{6AD20FC2-A2D4-4765-938F-E3B31AB19D8F}"/>
                </a:ext>
              </a:extLst>
            </p:cNvPr>
            <p:cNvSpPr txBox="1"/>
            <p:nvPr userDrawn="1"/>
          </p:nvSpPr>
          <p:spPr>
            <a:xfrm rot="10800000" flipH="1" flipV="1">
              <a:off x="304799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Customize footer: </a:t>
              </a: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Insert &gt; Text &gt; Header &amp; Footer</a:t>
              </a:r>
            </a:p>
          </p:txBody>
        </p:sp>
        <p:sp>
          <p:nvSpPr>
            <p:cNvPr id="33" name="Kopfzeile">
              <a:extLst>
                <a:ext uri="{FF2B5EF4-FFF2-40B4-BE49-F238E27FC236}">
                  <a16:creationId xmlns:a16="http://schemas.microsoft.com/office/drawing/2014/main" id="{568EA491-E484-4994-AA92-839C98876B59}"/>
                </a:ext>
              </a:extLst>
            </p:cNvPr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Customize Header: </a:t>
              </a: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Insert &gt; Text &gt; Header &amp; Footer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5300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Campus Sontheim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Nico Hofmann | M.Sc. Software Engineering | Winter Semester 2025/26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Insert Headline </a:t>
            </a:r>
            <a:br>
              <a:rPr lang="en-US" dirty="0"/>
            </a:br>
            <a:r>
              <a:rPr lang="en-US" dirty="0"/>
              <a:t>on two lines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B166E63-50B0-4138-AD32-6428E7F6058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06405" y="2160589"/>
            <a:ext cx="11377084" cy="408305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Text 22 pt. on first level // </a:t>
            </a:r>
            <a:r>
              <a:rPr lang="en-US" noProof="0" dirty="0"/>
              <a:t>for bullets 22 pt., text 20 pt., headline and bullets 20 pt. &gt;&gt; </a:t>
            </a:r>
            <a:r>
              <a:rPr lang="en-US" dirty="0"/>
              <a:t>Ribbon &gt; </a:t>
            </a:r>
            <a:r>
              <a:rPr lang="en-US" noProof="0" dirty="0"/>
              <a:t>Home &gt; Paragraph &gt; Increase List Level</a:t>
            </a:r>
            <a:r>
              <a:rPr lang="en-US" dirty="0"/>
              <a:t>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152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 //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Campus Sontheim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Nico Hofmann | M.Sc. Software Engineering | Winter Semester 2025/26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Insert Headline </a:t>
            </a:r>
            <a:br>
              <a:rPr lang="en-US" dirty="0"/>
            </a:br>
            <a:r>
              <a:rPr lang="en-US" dirty="0"/>
              <a:t>on two lines</a:t>
            </a:r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406405" y="2160588"/>
            <a:ext cx="11377084" cy="2105000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Text 22 pt. on first level // </a:t>
            </a:r>
            <a:r>
              <a:rPr lang="en-US" noProof="0" dirty="0"/>
              <a:t>for bullets 22 pt., text 20 pt., headline and bullets 20 pt. &gt;&gt; </a:t>
            </a:r>
            <a:r>
              <a:rPr lang="en-US" dirty="0"/>
              <a:t>Ribbon &gt; </a:t>
            </a:r>
            <a:r>
              <a:rPr lang="en-US" noProof="0" dirty="0"/>
              <a:t>Home &gt; Paragraph &gt; Increase List Level</a:t>
            </a:r>
            <a:r>
              <a:rPr lang="en-US" dirty="0"/>
              <a:t>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  <a:endParaRPr lang="en-US" dirty="0"/>
          </a:p>
        </p:txBody>
      </p:sp>
      <p:sp>
        <p:nvSpPr>
          <p:cNvPr id="15" name="Bildplatzhalter 2"/>
          <p:cNvSpPr>
            <a:spLocks noGrp="1"/>
          </p:cNvSpPr>
          <p:nvPr>
            <p:ph type="pic" idx="1" hasCustomPrompt="1"/>
          </p:nvPr>
        </p:nvSpPr>
        <p:spPr>
          <a:xfrm>
            <a:off x="406400" y="4361763"/>
            <a:ext cx="3658080" cy="1881877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999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6" name="Bildplatzhalter 2"/>
          <p:cNvSpPr>
            <a:spLocks noGrp="1"/>
          </p:cNvSpPr>
          <p:nvPr>
            <p:ph type="pic" idx="14" hasCustomPrompt="1"/>
          </p:nvPr>
        </p:nvSpPr>
        <p:spPr>
          <a:xfrm>
            <a:off x="4265901" y="4361763"/>
            <a:ext cx="3658080" cy="1881877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999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en-US"/>
            </a:br>
            <a:r>
              <a:rPr lang="en-US"/>
              <a:t>Insert picture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8125404" y="4361763"/>
            <a:ext cx="3658080" cy="1881877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999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en-US"/>
            </a:br>
            <a:r>
              <a:rPr lang="en-US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50172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 /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Campus Sontheim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Nico Hofmann | M.Sc. Software Engineering | Winter Semester 2025/26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Insert Headline </a:t>
            </a:r>
            <a:br>
              <a:rPr lang="en-US" dirty="0"/>
            </a:br>
            <a:r>
              <a:rPr lang="en-US" dirty="0"/>
              <a:t>on two lines</a:t>
            </a:r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406400" y="2160588"/>
            <a:ext cx="7128933" cy="4083050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Text 22 pt. on first level // </a:t>
            </a:r>
            <a:r>
              <a:rPr lang="en-US" noProof="0" dirty="0"/>
              <a:t>for bullets 22 pt., text 20 pt., headline and bullets 20 pt. &gt;&gt; </a:t>
            </a:r>
            <a:r>
              <a:rPr lang="en-US" dirty="0"/>
              <a:t>Ribbon &gt; </a:t>
            </a:r>
            <a:r>
              <a:rPr lang="en-US" noProof="0" dirty="0"/>
              <a:t>Home &gt; Paragraph &gt; Increase List Level</a:t>
            </a:r>
            <a:r>
              <a:rPr lang="en-US" dirty="0"/>
              <a:t>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  <a:endParaRPr lang="en-US" dirty="0"/>
          </a:p>
        </p:txBody>
      </p:sp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7920569" y="2221920"/>
            <a:ext cx="3862920" cy="3959805"/>
          </a:xfrm>
          <a:noFill/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999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123772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 userDrawn="1">
          <p15:clr>
            <a:srgbClr val="FBAE40"/>
          </p15:clr>
        </p15:guide>
        <p15:guide id="2" pos="4989" userDrawn="1">
          <p15:clr>
            <a:srgbClr val="FBAE40"/>
          </p15:clr>
        </p15:guide>
        <p15:guide id="3" orient="horz" pos="389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5" y="1098550"/>
            <a:ext cx="12191999" cy="5759450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en-US"/>
            </a:br>
            <a:r>
              <a:rPr lang="en-US"/>
              <a:t>Insert picture &gt;&gt; Ribbon &gt; Insert &gt; Picture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Campus Sontheim</a:t>
            </a:r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0" y="1098550"/>
            <a:ext cx="12192000" cy="5759451"/>
          </a:xfrm>
          <a:blipFill>
            <a:blip r:embed="rId2"/>
            <a:stretch>
              <a:fillRect/>
            </a:stretch>
          </a:blipFill>
        </p:spPr>
        <p:txBody>
          <a:bodyPr vert="horz" lIns="1954800" tIns="1260000" rIns="1501200"/>
          <a:lstStyle>
            <a:lvl1pPr>
              <a:lnSpc>
                <a:spcPct val="108000"/>
              </a:lnSpc>
              <a:spcAft>
                <a:spcPts val="0"/>
              </a:spcAft>
              <a:defRPr sz="3300" b="1">
                <a:solidFill>
                  <a:schemeClr val="bg1"/>
                </a:solidFill>
                <a:latin typeface="+mj-lt"/>
              </a:defRPr>
            </a:lvl1pPr>
            <a:lvl2pPr marL="0" marR="0" indent="0" algn="l" defTabSz="914407" rtl="0" eaLnBrk="1" fontAlgn="auto" latinLnBrk="0" hangingPunct="1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15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Quote on first level // </a:t>
            </a:r>
            <a:r>
              <a:rPr lang="en-US" noProof="0" dirty="0"/>
              <a:t>for </a:t>
            </a:r>
            <a:r>
              <a:rPr lang="en-US" dirty="0"/>
              <a:t>Autor &gt;&gt; Ribbon </a:t>
            </a:r>
            <a:r>
              <a:rPr lang="en-US" noProof="0" dirty="0"/>
              <a:t>&gt; Home &gt; Paragraph &gt; Increase List</a:t>
            </a:r>
            <a:r>
              <a:rPr lang="en-US" dirty="0"/>
              <a:t> </a:t>
            </a:r>
          </a:p>
          <a:p>
            <a:pPr marL="0" marR="0" lvl="1" indent="0" algn="l" defTabSz="914407" rtl="0" eaLnBrk="1" fontAlgn="auto" latinLnBrk="0" hangingPunct="1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/>
            </a:pPr>
            <a:r>
              <a:rPr lang="en-US" noProof="0" dirty="0"/>
              <a:t>Second level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Nico Hofmann | M.Sc. Software Engineering | Winter Semester 2025/26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9883778" y="6515213"/>
            <a:ext cx="1899711" cy="21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7" name="Titel 9">
            <a:extLst>
              <a:ext uri="{FF2B5EF4-FFF2-40B4-BE49-F238E27FC236}">
                <a16:creationId xmlns:a16="http://schemas.microsoft.com/office/drawing/2014/main" id="{A0B1B76A-51B5-4F03-ACCD-EF255BF5F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368000"/>
            <a:ext cx="1386000" cy="1116000"/>
          </a:xfrm>
          <a:blipFill>
            <a:blip r:embed="rId3"/>
            <a:stretch>
              <a:fillRect/>
            </a:stretch>
          </a:blipFill>
        </p:spPr>
        <p:txBody>
          <a:bodyPr wrap="none" tIns="36000" rIns="1512000" anchor="t" anchorCtr="0"/>
          <a:lstStyle>
            <a:lvl1pPr algn="r">
              <a:defRPr sz="1000" baseline="0"/>
            </a:lvl1pPr>
          </a:lstStyle>
          <a:p>
            <a:r>
              <a:rPr lang="en-US" noProof="0"/>
              <a:t>Bitte nicht</a:t>
            </a:r>
            <a:br>
              <a:rPr lang="en-US" noProof="0"/>
            </a:br>
            <a:r>
              <a:rPr lang="en-US" noProof="0"/>
              <a:t>verschieben</a:t>
            </a:r>
            <a:endParaRPr lang="en-US" noProof="0" dirty="0"/>
          </a:p>
        </p:txBody>
      </p:sp>
      <p:pic>
        <p:nvPicPr>
          <p:cNvPr id="29" name="Logo HHN">
            <a:extLst>
              <a:ext uri="{FF2B5EF4-FFF2-40B4-BE49-F238E27FC236}">
                <a16:creationId xmlns:a16="http://schemas.microsoft.com/office/drawing/2014/main" id="{9C3514B9-049D-45E4-94CE-3CF817C1721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50183" y="307131"/>
            <a:ext cx="1333301" cy="619200"/>
          </a:xfrm>
          <a:prstGeom prst="rect">
            <a:avLst/>
          </a:prstGeom>
        </p:spPr>
      </p:pic>
      <p:grpSp>
        <p:nvGrpSpPr>
          <p:cNvPr id="30" name="Regieanweisungen">
            <a:extLst>
              <a:ext uri="{FF2B5EF4-FFF2-40B4-BE49-F238E27FC236}">
                <a16:creationId xmlns:a16="http://schemas.microsoft.com/office/drawing/2014/main" id="{02481EDB-7877-4996-820C-FFEFD45C7964}"/>
              </a:ext>
            </a:extLst>
          </p:cNvPr>
          <p:cNvGrpSpPr/>
          <p:nvPr userDrawn="1"/>
        </p:nvGrpSpPr>
        <p:grpSpPr>
          <a:xfrm>
            <a:off x="-2253886" y="-468000"/>
            <a:ext cx="17181886" cy="7668001"/>
            <a:chOff x="-1690413" y="-468001"/>
            <a:chExt cx="12886413" cy="7668001"/>
          </a:xfrm>
        </p:grpSpPr>
        <p:sp>
          <p:nvSpPr>
            <p:cNvPr id="31" name="Hilfslinien">
              <a:extLst>
                <a:ext uri="{FF2B5EF4-FFF2-40B4-BE49-F238E27FC236}">
                  <a16:creationId xmlns:a16="http://schemas.microsoft.com/office/drawing/2014/main" id="{18336903-3AE2-493A-93B4-394C8F8E2FFF}"/>
                </a:ext>
              </a:extLst>
            </p:cNvPr>
            <p:cNvSpPr txBox="1"/>
            <p:nvPr userDrawn="1"/>
          </p:nvSpPr>
          <p:spPr>
            <a:xfrm rot="10800000" flipH="1" flipV="1">
              <a:off x="4571999" y="-468000"/>
              <a:ext cx="42648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Show guides via Ribbon: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View &gt; Show &gt; 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tick</a:t>
              </a: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Guides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Zurücksetzen">
              <a:extLst>
                <a:ext uri="{FF2B5EF4-FFF2-40B4-BE49-F238E27FC236}">
                  <a16:creationId xmlns:a16="http://schemas.microsoft.com/office/drawing/2014/main" id="{0403CE5E-7D8E-4445-9A11-5614701AFB1F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Reset the slide back to its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original form via Ribbon: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Reset</a:t>
              </a:r>
            </a:p>
          </p:txBody>
        </p:sp>
        <p:sp>
          <p:nvSpPr>
            <p:cNvPr id="33" name="Layoutwechsel">
              <a:extLst>
                <a:ext uri="{FF2B5EF4-FFF2-40B4-BE49-F238E27FC236}">
                  <a16:creationId xmlns:a16="http://schemas.microsoft.com/office/drawing/2014/main" id="{37E4D678-AB51-415F-A3C2-BFCB841977A4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Change the slide layout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via Ribbon: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Layout</a:t>
              </a:r>
            </a:p>
          </p:txBody>
        </p:sp>
        <p:sp>
          <p:nvSpPr>
            <p:cNvPr id="34" name="Text // Listenebene erhöhen">
              <a:extLst>
                <a:ext uri="{FF2B5EF4-FFF2-40B4-BE49-F238E27FC236}">
                  <a16:creationId xmlns:a16="http://schemas.microsoft.com/office/drawing/2014/main" id="{26941C7C-1EA8-4C84-AF9D-C1A29D4530B7}"/>
                </a:ext>
              </a:extLst>
            </p:cNvPr>
            <p:cNvSpPr txBox="1"/>
            <p:nvPr userDrawn="1"/>
          </p:nvSpPr>
          <p:spPr>
            <a:xfrm>
              <a:off x="-1516796" y="2871934"/>
              <a:ext cx="898412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Increase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List Level</a:t>
              </a:r>
            </a:p>
          </p:txBody>
        </p:sp>
        <p:sp>
          <p:nvSpPr>
            <p:cNvPr id="35" name="Text // Listenebene verringern">
              <a:extLst>
                <a:ext uri="{FF2B5EF4-FFF2-40B4-BE49-F238E27FC236}">
                  <a16:creationId xmlns:a16="http://schemas.microsoft.com/office/drawing/2014/main" id="{C10DDFB6-5B61-467A-A792-54C79A078D54}"/>
                </a:ext>
              </a:extLst>
            </p:cNvPr>
            <p:cNvSpPr txBox="1"/>
            <p:nvPr userDrawn="1"/>
          </p:nvSpPr>
          <p:spPr>
            <a:xfrm>
              <a:off x="-1516796" y="3267934"/>
              <a:ext cx="898412" cy="28800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Decrease 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List Level</a:t>
              </a:r>
            </a:p>
          </p:txBody>
        </p:sp>
        <p:sp>
          <p:nvSpPr>
            <p:cNvPr id="36" name="Listenebenen">
              <a:extLst>
                <a:ext uri="{FF2B5EF4-FFF2-40B4-BE49-F238E27FC236}">
                  <a16:creationId xmlns:a16="http://schemas.microsoft.com/office/drawing/2014/main" id="{C8E0693C-BA92-43AA-AF6D-AA0418317EDA}"/>
                </a:ext>
              </a:extLst>
            </p:cNvPr>
            <p:cNvSpPr txBox="1"/>
            <p:nvPr userDrawn="1"/>
          </p:nvSpPr>
          <p:spPr>
            <a:xfrm rot="10800000" flipH="1" flipV="1">
              <a:off x="-1690413" y="2124000"/>
              <a:ext cx="1584000" cy="79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Change the text level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via Ribbon: </a:t>
              </a:r>
              <a:br>
                <a:rPr lang="en-US" sz="1000" b="0" baseline="0">
                  <a:solidFill>
                    <a:schemeClr val="tx1"/>
                  </a:solidFill>
                  <a:latin typeface="+mn-lt"/>
                </a:rPr>
              </a:b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Paragraph &gt; Increase/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Decrease List Level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000" b="1" baseline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37" name="Bild // Listenebene verringern">
              <a:extLst>
                <a:ext uri="{FF2B5EF4-FFF2-40B4-BE49-F238E27FC236}">
                  <a16:creationId xmlns:a16="http://schemas.microsoft.com/office/drawing/2014/main" id="{BFE93321-E538-4022-8A82-C17D0FE85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544788" y="3267934"/>
              <a:ext cx="385763" cy="238125"/>
            </a:xfrm>
            <a:prstGeom prst="rect">
              <a:avLst/>
            </a:prstGeom>
          </p:spPr>
        </p:pic>
        <p:pic>
          <p:nvPicPr>
            <p:cNvPr id="38" name="Bild // Listenebene erhöhen">
              <a:extLst>
                <a:ext uri="{FF2B5EF4-FFF2-40B4-BE49-F238E27FC236}">
                  <a16:creationId xmlns:a16="http://schemas.microsoft.com/office/drawing/2014/main" id="{DC047369-FB88-442D-8B63-61AB2032C2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-544788" y="2871934"/>
              <a:ext cx="385763" cy="238125"/>
            </a:xfrm>
            <a:prstGeom prst="rect">
              <a:avLst/>
            </a:prstGeom>
          </p:spPr>
        </p:pic>
        <p:sp>
          <p:nvSpPr>
            <p:cNvPr id="39" name="Fußzeile">
              <a:extLst>
                <a:ext uri="{FF2B5EF4-FFF2-40B4-BE49-F238E27FC236}">
                  <a16:creationId xmlns:a16="http://schemas.microsoft.com/office/drawing/2014/main" id="{49532751-61E7-4FD4-95E4-0B64706E2094}"/>
                </a:ext>
              </a:extLst>
            </p:cNvPr>
            <p:cNvSpPr txBox="1"/>
            <p:nvPr userDrawn="1"/>
          </p:nvSpPr>
          <p:spPr>
            <a:xfrm rot="10800000" flipH="1" flipV="1">
              <a:off x="304799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Customize footer: </a:t>
              </a: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Insert &gt; Text &gt; Header &amp; Footer</a:t>
              </a:r>
            </a:p>
          </p:txBody>
        </p:sp>
        <p:sp>
          <p:nvSpPr>
            <p:cNvPr id="40" name="Kopfzeile">
              <a:extLst>
                <a:ext uri="{FF2B5EF4-FFF2-40B4-BE49-F238E27FC236}">
                  <a16:creationId xmlns:a16="http://schemas.microsoft.com/office/drawing/2014/main" id="{AC2C6CFC-C15C-44AF-9727-3AFD3633B39C}"/>
                </a:ext>
              </a:extLst>
            </p:cNvPr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Customize Header: </a:t>
              </a: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Insert &gt; Text &gt; Header &amp; Footer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1501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fo //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Campus Sontheim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Nico Hofmann | M.Sc. Software Engineering | Winter Semester 2025/26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Insert Headline </a:t>
            </a:r>
            <a:br>
              <a:rPr lang="en-US" dirty="0"/>
            </a:br>
            <a:r>
              <a:rPr lang="en-US" dirty="0"/>
              <a:t>on two lines</a:t>
            </a:r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406400" y="2160588"/>
            <a:ext cx="11377089" cy="396000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Short info about the content</a:t>
            </a:r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>
          <a:xfrm>
            <a:off x="406397" y="2689225"/>
            <a:ext cx="5592527" cy="355441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spcAft>
                <a:spcPts val="599"/>
              </a:spcAft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Text 22 pt. on first level // </a:t>
            </a:r>
            <a:r>
              <a:rPr lang="en-US" noProof="0" dirty="0"/>
              <a:t>for bullets 22 pt., text 20 pt., headline and bullets 20 pt. &gt;&gt; </a:t>
            </a:r>
            <a:r>
              <a:rPr lang="en-US" dirty="0"/>
              <a:t>Ribbon &gt; </a:t>
            </a:r>
            <a:r>
              <a:rPr lang="en-US" noProof="0" dirty="0"/>
              <a:t>Home &gt; Paragraph &gt; Increase List Level</a:t>
            </a:r>
            <a:r>
              <a:rPr lang="en-US" dirty="0"/>
              <a:t>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13" name="Inhaltsplatzhalter 2"/>
          <p:cNvSpPr>
            <a:spLocks noGrp="1"/>
          </p:cNvSpPr>
          <p:nvPr>
            <p:ph idx="14" hasCustomPrompt="1"/>
          </p:nvPr>
        </p:nvSpPr>
        <p:spPr>
          <a:xfrm>
            <a:off x="6192002" y="2689225"/>
            <a:ext cx="5591487" cy="355441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spcAft>
                <a:spcPts val="599"/>
              </a:spcAft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Text 22 pt. on first level // </a:t>
            </a:r>
            <a:r>
              <a:rPr lang="en-US" noProof="0" dirty="0"/>
              <a:t>for bullets 22 pt., text 20 pt., headline and bullets 20 pt. &gt;&gt; </a:t>
            </a:r>
            <a:r>
              <a:rPr lang="en-US" dirty="0"/>
              <a:t>Ribbon &gt; </a:t>
            </a:r>
            <a:r>
              <a:rPr lang="en-US" noProof="0" dirty="0"/>
              <a:t>Home &gt; Paragraph &gt; Increase List Level</a:t>
            </a:r>
            <a:r>
              <a:rPr lang="en-US" dirty="0"/>
              <a:t>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733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9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fo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Campus Sontheim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Nico Hofmann | M.Sc. Software Engineering | Winter Semester 2025/26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Insert Headline </a:t>
            </a:r>
            <a:br>
              <a:rPr lang="en-US" dirty="0"/>
            </a:br>
            <a:r>
              <a:rPr lang="en-US" dirty="0"/>
              <a:t>on two lines</a:t>
            </a:r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406394" y="2160588"/>
            <a:ext cx="11377092" cy="396000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Short info about the content</a:t>
            </a:r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>
          <a:xfrm>
            <a:off x="406405" y="2690813"/>
            <a:ext cx="11377084" cy="355282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spcAft>
                <a:spcPts val="599"/>
              </a:spcAft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Text 22 pt. on first level // </a:t>
            </a:r>
            <a:r>
              <a:rPr lang="en-US" noProof="0" dirty="0"/>
              <a:t>for bullets 22 pt., text 20 pt., headline and bullets 20 pt. &gt;&gt; </a:t>
            </a:r>
            <a:r>
              <a:rPr lang="en-US" dirty="0"/>
              <a:t>Ribbon &gt; </a:t>
            </a:r>
            <a:r>
              <a:rPr lang="en-US" noProof="0" dirty="0"/>
              <a:t>Home &gt; Paragraph &gt; Increase List Level</a:t>
            </a:r>
            <a:r>
              <a:rPr lang="en-US" dirty="0"/>
              <a:t>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554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9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Insert Headline </a:t>
            </a:r>
            <a:br>
              <a:rPr lang="en-US" dirty="0"/>
            </a:br>
            <a:r>
              <a:rPr lang="en-US" dirty="0"/>
              <a:t>on two lines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54071D8-9D4F-4737-9753-5A4E0952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Campus Sontheim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FA9BD1D-40AC-4766-9D87-7CD9F933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Nico Hofmann | M.Sc. Software Engineering | Winter Semester 2025/26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B7C7B69-B03E-4D33-9FE9-AB156C53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56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7"/>
          <a:stretch/>
        </p:blipFill>
        <p:spPr>
          <a:xfrm>
            <a:off x="0" y="1098550"/>
            <a:ext cx="12192000" cy="5759451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Campus Sontheim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Nico Hofmann | M.Sc. Software Engineering | Winter Semester 2025/26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2088000" y="4284000"/>
            <a:ext cx="9695489" cy="1959639"/>
          </a:xfrm>
        </p:spPr>
        <p:txBody>
          <a:bodyPr vert="horz"/>
          <a:lstStyle>
            <a:lvl1pPr marL="0" marR="0" indent="0" algn="l" defTabSz="91440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999" b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9pPr>
          </a:lstStyle>
          <a:p>
            <a:pPr marL="0" marR="0" lvl="0" indent="0" algn="l" defTabSz="91440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Please refer any questions to:</a:t>
            </a:r>
            <a:br>
              <a:rPr lang="en-US" dirty="0"/>
            </a:br>
            <a:r>
              <a:rPr lang="en-US" dirty="0"/>
              <a:t>Prename Name (Ribbon &gt; Increase List Level)</a:t>
            </a:r>
            <a:br>
              <a:rPr lang="en-US" dirty="0"/>
            </a:br>
            <a:r>
              <a:rPr lang="en-US" dirty="0"/>
              <a:t>Faculty of XY | Department of XY </a:t>
            </a:r>
            <a:br>
              <a:rPr lang="en-US" dirty="0"/>
            </a:br>
            <a:r>
              <a:rPr lang="en-US" dirty="0"/>
              <a:t>meike.muster@hs-heilbronn.de</a:t>
            </a:r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4" hasCustomPrompt="1"/>
          </p:nvPr>
        </p:nvSpPr>
        <p:spPr>
          <a:xfrm>
            <a:off x="2087996" y="2160588"/>
            <a:ext cx="9695489" cy="1851841"/>
          </a:xfrm>
        </p:spPr>
        <p:txBody>
          <a:bodyPr vert="horz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300" baseline="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Conclusion</a:t>
            </a:r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BCE84AFA-A866-402D-A07B-4A22F5614A57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576000" y="4716000"/>
            <a:ext cx="1080000" cy="108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983600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54071D8-9D4F-4737-9753-5A4E0952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Campus Sontheim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FA9BD1D-40AC-4766-9D87-7CD9F933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Nico Hofmann | M.Sc. Software Engineering | Winter Semester 2025/26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B7C7B69-B03E-4D33-9FE9-AB156C53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17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Regieanweisungen"/>
          <p:cNvGrpSpPr/>
          <p:nvPr/>
        </p:nvGrpSpPr>
        <p:grpSpPr>
          <a:xfrm>
            <a:off x="-2253886" y="-468000"/>
            <a:ext cx="17181886" cy="7668001"/>
            <a:chOff x="-1690413" y="-468001"/>
            <a:chExt cx="12886413" cy="7668001"/>
          </a:xfrm>
        </p:grpSpPr>
        <p:sp>
          <p:nvSpPr>
            <p:cNvPr id="11" name="Hilfslinien"/>
            <p:cNvSpPr txBox="1"/>
            <p:nvPr userDrawn="1"/>
          </p:nvSpPr>
          <p:spPr>
            <a:xfrm rot="10800000" flipH="1" flipV="1">
              <a:off x="4571999" y="-468000"/>
              <a:ext cx="42648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Show guides via Ribbon: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View &gt; Show &gt; 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tick</a:t>
              </a: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Guides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Reset the slide back to its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original form via Ribbon: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Reset</a:t>
              </a:r>
            </a:p>
          </p:txBody>
        </p:sp>
        <p:sp>
          <p:nvSpPr>
            <p:cNvPr id="14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Change the slide layout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via Ribbon: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Layout</a:t>
              </a:r>
            </a:p>
          </p:txBody>
        </p:sp>
        <p:sp>
          <p:nvSpPr>
            <p:cNvPr id="15" name="Text // Listenebene erhöhen"/>
            <p:cNvSpPr txBox="1"/>
            <p:nvPr userDrawn="1"/>
          </p:nvSpPr>
          <p:spPr>
            <a:xfrm>
              <a:off x="-1516796" y="2871934"/>
              <a:ext cx="898412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Increase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List Level</a:t>
              </a:r>
            </a:p>
          </p:txBody>
        </p:sp>
        <p:sp>
          <p:nvSpPr>
            <p:cNvPr id="16" name="Text // Listenebene verringern"/>
            <p:cNvSpPr txBox="1"/>
            <p:nvPr userDrawn="1"/>
          </p:nvSpPr>
          <p:spPr>
            <a:xfrm>
              <a:off x="-1516796" y="3267934"/>
              <a:ext cx="898412" cy="28800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Decrease 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List Level</a:t>
              </a:r>
            </a:p>
          </p:txBody>
        </p:sp>
        <p:sp>
          <p:nvSpPr>
            <p:cNvPr id="17" name="Listenebenen"/>
            <p:cNvSpPr txBox="1"/>
            <p:nvPr userDrawn="1"/>
          </p:nvSpPr>
          <p:spPr>
            <a:xfrm rot="10800000" flipH="1" flipV="1">
              <a:off x="-1690413" y="2124000"/>
              <a:ext cx="1584000" cy="79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Change the text level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via Ribbon: </a:t>
              </a:r>
              <a:br>
                <a:rPr lang="en-US" sz="1000" b="0" baseline="0">
                  <a:solidFill>
                    <a:schemeClr val="tx1"/>
                  </a:solidFill>
                  <a:latin typeface="+mn-lt"/>
                </a:rPr>
              </a:b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Paragraph &gt; Increase/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Decrease List Level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000" b="1" baseline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18" name="Bild // Listenebene verringern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-544788" y="3267934"/>
              <a:ext cx="385763" cy="238125"/>
            </a:xfrm>
            <a:prstGeom prst="rect">
              <a:avLst/>
            </a:prstGeom>
          </p:spPr>
        </p:pic>
        <p:pic>
          <p:nvPicPr>
            <p:cNvPr id="19" name="Bild // Listenebene erhöhen"/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-544788" y="2871934"/>
              <a:ext cx="385763" cy="238125"/>
            </a:xfrm>
            <a:prstGeom prst="rect">
              <a:avLst/>
            </a:prstGeom>
          </p:spPr>
        </p:pic>
        <p:sp>
          <p:nvSpPr>
            <p:cNvPr id="20" name="Fußzeile"/>
            <p:cNvSpPr txBox="1"/>
            <p:nvPr userDrawn="1"/>
          </p:nvSpPr>
          <p:spPr>
            <a:xfrm rot="10800000" flipH="1" flipV="1">
              <a:off x="304799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Customize footer: </a:t>
              </a: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Insert &gt; Text &gt; Header &amp; Footer</a:t>
              </a:r>
            </a:p>
          </p:txBody>
        </p:sp>
        <p:sp>
          <p:nvSpPr>
            <p:cNvPr id="21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Customize Header: </a:t>
              </a: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Insert &gt; Text &gt; Header &amp; Footer</a:t>
              </a:r>
            </a:p>
          </p:txBody>
        </p:sp>
      </p:grpSp>
      <p:cxnSp>
        <p:nvCxnSpPr>
          <p:cNvPr id="12" name="Footerlinie"/>
          <p:cNvCxnSpPr/>
          <p:nvPr/>
        </p:nvCxnSpPr>
        <p:spPr>
          <a:xfrm>
            <a:off x="406399" y="6449759"/>
            <a:ext cx="1137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Headerlinie"/>
          <p:cNvCxnSpPr/>
          <p:nvPr/>
        </p:nvCxnSpPr>
        <p:spPr>
          <a:xfrm>
            <a:off x="406400" y="1944000"/>
            <a:ext cx="1137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Insert Headline </a:t>
            </a:r>
            <a:br>
              <a:rPr lang="en-US" dirty="0"/>
            </a:br>
            <a:r>
              <a:rPr lang="en-US" dirty="0"/>
              <a:t>on two lines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06400" y="2160588"/>
            <a:ext cx="11377086" cy="40814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Text 22 pt. on first level // </a:t>
            </a:r>
            <a:r>
              <a:rPr lang="en-US" noProof="0" dirty="0"/>
              <a:t>for bullets 22 pt., text 20 pt., headline and bullets 20 pt. &gt;&gt; </a:t>
            </a:r>
            <a:r>
              <a:rPr lang="en-US" dirty="0"/>
              <a:t>Ribbon &gt; </a:t>
            </a:r>
            <a:r>
              <a:rPr lang="en-US" noProof="0" dirty="0"/>
              <a:t>Home &gt; Paragraph &gt; Increase List Level</a:t>
            </a:r>
            <a:r>
              <a:rPr lang="en-US" dirty="0"/>
              <a:t>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06401" y="274365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 spc="40" baseline="0">
                <a:solidFill>
                  <a:schemeClr val="tx1"/>
                </a:solidFill>
                <a:latin typeface="+mj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9pPr>
          </a:lstStyle>
          <a:p>
            <a:r>
              <a:rPr lang="de-DE"/>
              <a:t>Campus Sontheim</a:t>
            </a:r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spc="40" baseline="0">
                <a:solidFill>
                  <a:schemeClr val="tx1"/>
                </a:solidFill>
                <a:latin typeface="+mn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9pPr>
          </a:lstStyle>
          <a:p>
            <a:r>
              <a:rPr lang="en-US"/>
              <a:t>Nico Hofmann | M.Sc. Software Engineering | Winter Semester 2025/26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2pPr>
            <a:lvl3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3pPr>
            <a:lvl4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4pPr>
            <a:lvl5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5pPr>
            <a:lvl6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6pPr>
            <a:lvl7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7pPr>
            <a:lvl8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8pPr>
            <a:lvl9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9pPr>
          </a:lstStyle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23" name="Logo HHN">
            <a:extLst>
              <a:ext uri="{FF2B5EF4-FFF2-40B4-BE49-F238E27FC236}">
                <a16:creationId xmlns:a16="http://schemas.microsoft.com/office/drawing/2014/main" id="{6BAFAE1A-69F9-4EFD-A7CF-4FD30AD0121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50183" y="307131"/>
            <a:ext cx="1333301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7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6" r:id="rId2"/>
    <p:sldLayoutId id="2147483670" r:id="rId3"/>
    <p:sldLayoutId id="2147483649" r:id="rId4"/>
    <p:sldLayoutId id="2147483667" r:id="rId5"/>
    <p:sldLayoutId id="2147483650" r:id="rId6"/>
    <p:sldLayoutId id="2147483660" r:id="rId7"/>
    <p:sldLayoutId id="2147483661" r:id="rId8"/>
    <p:sldLayoutId id="2147483662" r:id="rId9"/>
    <p:sldLayoutId id="2147483664" r:id="rId10"/>
    <p:sldLayoutId id="2147483665" r:id="rId11"/>
    <p:sldLayoutId id="2147483654" r:id="rId12"/>
    <p:sldLayoutId id="2147483668" r:id="rId13"/>
  </p:sldLayoutIdLst>
  <p:hf hdr="0"/>
  <p:txStyles>
    <p:titleStyle>
      <a:lvl1pPr marL="0" indent="0" algn="l" defTabSz="914407" rtl="0" eaLnBrk="1" latinLnBrk="0" hangingPunct="1">
        <a:lnSpc>
          <a:spcPct val="94000"/>
        </a:lnSpc>
        <a:spcBef>
          <a:spcPts val="0"/>
        </a:spcBef>
        <a:buFont typeface="Arial" panose="020B0604020202020204" pitchFamily="34" charset="0"/>
        <a:buNone/>
        <a:defRPr sz="3000" b="1" kern="1200" cap="all" spc="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7" rtl="0" eaLnBrk="1" latinLnBrk="0" hangingPunct="1">
        <a:lnSpc>
          <a:spcPct val="105000"/>
        </a:lnSpc>
        <a:spcBef>
          <a:spcPts val="0"/>
        </a:spcBef>
        <a:spcAft>
          <a:spcPts val="1999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2201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88003" indent="-288003" algn="l" defTabSz="914407" rtl="0" eaLnBrk="1" latinLnBrk="0" hangingPunct="1">
        <a:lnSpc>
          <a:spcPct val="105000"/>
        </a:lnSpc>
        <a:spcBef>
          <a:spcPts val="599"/>
        </a:spcBef>
        <a:buClr>
          <a:schemeClr val="accent1"/>
        </a:buClr>
        <a:buFont typeface="Arial" panose="020B0604020202020204" pitchFamily="34" charset="0"/>
        <a:buChar char="&gt;"/>
        <a:tabLst>
          <a:tab pos="288003" algn="l"/>
          <a:tab pos="792005" algn="l"/>
        </a:tabLst>
        <a:defRPr sz="2201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88003" indent="0" algn="l" defTabSz="914407" rtl="0" eaLnBrk="1" latinLnBrk="0" hangingPunct="1">
        <a:lnSpc>
          <a:spcPct val="108000"/>
        </a:lnSpc>
        <a:spcBef>
          <a:spcPts val="130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288003" indent="-288003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&gt;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504004" indent="-216001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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88003" indent="-288003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+mj-lt"/>
        <a:buAutoNum type="arabicPeriod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3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3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2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4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1361" userDrawn="1">
          <p15:clr>
            <a:srgbClr val="F26B43"/>
          </p15:clr>
        </p15:guide>
        <p15:guide id="4" orient="horz" pos="650" userDrawn="1">
          <p15:clr>
            <a:srgbClr val="F26B43"/>
          </p15:clr>
        </p15:guide>
        <p15:guide id="5" orient="horz" pos="1194" userDrawn="1">
          <p15:clr>
            <a:srgbClr val="F26B43"/>
          </p15:clr>
        </p15:guide>
        <p15:guide id="6" orient="horz" pos="3932" userDrawn="1">
          <p15:clr>
            <a:srgbClr val="F26B43"/>
          </p15:clr>
        </p15:guide>
        <p15:guide id="7" orient="horz" pos="1400" userDrawn="1">
          <p15:clr>
            <a:srgbClr val="547EBF"/>
          </p15:clr>
        </p15:guide>
        <p15:guide id="8" orient="horz" pos="692" userDrawn="1">
          <p15:clr>
            <a:srgbClr val="547EBF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Regieanweisungen"/>
          <p:cNvGrpSpPr/>
          <p:nvPr/>
        </p:nvGrpSpPr>
        <p:grpSpPr>
          <a:xfrm>
            <a:off x="-2253886" y="-468000"/>
            <a:ext cx="17181886" cy="7668001"/>
            <a:chOff x="-1690413" y="-468001"/>
            <a:chExt cx="12886413" cy="7668001"/>
          </a:xfrm>
        </p:grpSpPr>
        <p:sp>
          <p:nvSpPr>
            <p:cNvPr id="11" name="Hilfslinien"/>
            <p:cNvSpPr txBox="1"/>
            <p:nvPr userDrawn="1"/>
          </p:nvSpPr>
          <p:spPr>
            <a:xfrm rot="10800000" flipH="1" flipV="1">
              <a:off x="4571999" y="-468000"/>
              <a:ext cx="42648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Show guides via Ribbon: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View &gt; Show &gt; 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tick</a:t>
              </a: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Guides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Reset the slide back to its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original form via Ribbon: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Reset</a:t>
              </a:r>
            </a:p>
          </p:txBody>
        </p:sp>
        <p:sp>
          <p:nvSpPr>
            <p:cNvPr id="14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Change the slide layout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via Ribbon: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Slides &gt; Layout</a:t>
              </a:r>
            </a:p>
          </p:txBody>
        </p:sp>
        <p:sp>
          <p:nvSpPr>
            <p:cNvPr id="15" name="Text // Listenebene erhöhen"/>
            <p:cNvSpPr txBox="1"/>
            <p:nvPr userDrawn="1"/>
          </p:nvSpPr>
          <p:spPr>
            <a:xfrm>
              <a:off x="-1516796" y="2871934"/>
              <a:ext cx="898412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Increase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List Level</a:t>
              </a:r>
            </a:p>
          </p:txBody>
        </p:sp>
        <p:sp>
          <p:nvSpPr>
            <p:cNvPr id="16" name="Text // Listenebene verringern"/>
            <p:cNvSpPr txBox="1"/>
            <p:nvPr userDrawn="1"/>
          </p:nvSpPr>
          <p:spPr>
            <a:xfrm>
              <a:off x="-1516796" y="3267934"/>
              <a:ext cx="898412" cy="28800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Decrease 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List Level</a:t>
              </a:r>
            </a:p>
          </p:txBody>
        </p:sp>
        <p:sp>
          <p:nvSpPr>
            <p:cNvPr id="17" name="Listenebenen"/>
            <p:cNvSpPr txBox="1"/>
            <p:nvPr userDrawn="1"/>
          </p:nvSpPr>
          <p:spPr>
            <a:xfrm rot="10800000" flipH="1" flipV="1">
              <a:off x="-1690413" y="2124000"/>
              <a:ext cx="1584000" cy="79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Change the text level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via Ribbon: </a:t>
              </a:r>
              <a:br>
                <a:rPr lang="en-US" sz="1000" b="0" baseline="0">
                  <a:solidFill>
                    <a:schemeClr val="tx1"/>
                  </a:solidFill>
                  <a:latin typeface="+mn-lt"/>
                </a:rPr>
              </a:b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Home &gt; Paragraph &gt; Increase/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Decrease List Level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000" b="1" baseline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18" name="Bild // Listenebene verringern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544788" y="3267934"/>
              <a:ext cx="385763" cy="238125"/>
            </a:xfrm>
            <a:prstGeom prst="rect">
              <a:avLst/>
            </a:prstGeom>
          </p:spPr>
        </p:pic>
        <p:pic>
          <p:nvPicPr>
            <p:cNvPr id="19" name="Bild // Listenebene erhöhen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544788" y="2871934"/>
              <a:ext cx="385763" cy="238125"/>
            </a:xfrm>
            <a:prstGeom prst="rect">
              <a:avLst/>
            </a:prstGeom>
          </p:spPr>
        </p:pic>
        <p:sp>
          <p:nvSpPr>
            <p:cNvPr id="20" name="Fußzeile"/>
            <p:cNvSpPr txBox="1"/>
            <p:nvPr userDrawn="1"/>
          </p:nvSpPr>
          <p:spPr>
            <a:xfrm rot="10800000" flipH="1" flipV="1">
              <a:off x="304799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Customize footer: </a:t>
              </a: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Insert &gt; Text &gt; Header &amp; Footer</a:t>
              </a:r>
            </a:p>
          </p:txBody>
        </p:sp>
        <p:sp>
          <p:nvSpPr>
            <p:cNvPr id="21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baseline="0">
                  <a:solidFill>
                    <a:schemeClr val="tx1"/>
                  </a:solidFill>
                  <a:latin typeface="+mn-lt"/>
                </a:rPr>
                <a:t>Customize Header: </a:t>
              </a:r>
              <a:r>
                <a:rPr lang="en-US" sz="1000" b="1" baseline="0">
                  <a:solidFill>
                    <a:schemeClr val="tx1"/>
                  </a:solidFill>
                  <a:latin typeface="+mn-lt"/>
                </a:rPr>
                <a:t>Insert &gt; Text &gt; Header &amp; Footer</a:t>
              </a:r>
            </a:p>
          </p:txBody>
        </p:sp>
      </p:grpSp>
      <p:cxnSp>
        <p:nvCxnSpPr>
          <p:cNvPr id="12" name="Footerlinie"/>
          <p:cNvCxnSpPr/>
          <p:nvPr/>
        </p:nvCxnSpPr>
        <p:spPr>
          <a:xfrm>
            <a:off x="406399" y="6449759"/>
            <a:ext cx="1137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06401" y="274365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 spc="40" baseline="0">
                <a:solidFill>
                  <a:schemeClr val="tx1"/>
                </a:solidFill>
                <a:latin typeface="+mj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9pPr>
          </a:lstStyle>
          <a:p>
            <a:r>
              <a:rPr lang="de-DE"/>
              <a:t>Campus Sontheim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spc="40" baseline="0">
                <a:solidFill>
                  <a:schemeClr val="tx1"/>
                </a:solidFill>
                <a:latin typeface="+mn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9pPr>
          </a:lstStyle>
          <a:p>
            <a:r>
              <a:rPr lang="en-US"/>
              <a:t>Nico Hofmann | M.Sc. Software Engineering | Winter Semester 2025/26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2pPr>
            <a:lvl3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3pPr>
            <a:lvl4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4pPr>
            <a:lvl5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5pPr>
            <a:lvl6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6pPr>
            <a:lvl7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7pPr>
            <a:lvl8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8pPr>
            <a:lvl9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9pPr>
          </a:lstStyle>
          <a:p>
            <a:r>
              <a:rPr lang="en-US"/>
              <a:t>|  </a:t>
            </a:r>
            <a:fld id="{E6B5151A-17C4-4431-8407-112C0160A8B6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23" name="Logo HHN">
            <a:extLst>
              <a:ext uri="{FF2B5EF4-FFF2-40B4-BE49-F238E27FC236}">
                <a16:creationId xmlns:a16="http://schemas.microsoft.com/office/drawing/2014/main" id="{6BAFAE1A-69F9-4EFD-A7CF-4FD30AD01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0183" y="307131"/>
            <a:ext cx="1333301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78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/>
  <p:txStyles>
    <p:titleStyle>
      <a:lvl1pPr marL="0" indent="0" algn="l" defTabSz="914407" rtl="0" eaLnBrk="1" latinLnBrk="0" hangingPunct="1">
        <a:lnSpc>
          <a:spcPct val="94000"/>
        </a:lnSpc>
        <a:spcBef>
          <a:spcPts val="0"/>
        </a:spcBef>
        <a:buFont typeface="Arial" panose="020B0604020202020204" pitchFamily="34" charset="0"/>
        <a:buNone/>
        <a:defRPr sz="3000" b="1" kern="1200" cap="all" spc="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7" rtl="0" eaLnBrk="1" latinLnBrk="0" hangingPunct="1">
        <a:lnSpc>
          <a:spcPct val="105000"/>
        </a:lnSpc>
        <a:spcBef>
          <a:spcPts val="0"/>
        </a:spcBef>
        <a:spcAft>
          <a:spcPts val="1999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2201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88003" indent="-288003" algn="l" defTabSz="914407" rtl="0" eaLnBrk="1" latinLnBrk="0" hangingPunct="1">
        <a:lnSpc>
          <a:spcPct val="105000"/>
        </a:lnSpc>
        <a:spcBef>
          <a:spcPts val="599"/>
        </a:spcBef>
        <a:buClr>
          <a:schemeClr val="accent1"/>
        </a:buClr>
        <a:buFont typeface="Arial" panose="020B0604020202020204" pitchFamily="34" charset="0"/>
        <a:buChar char="&gt;"/>
        <a:tabLst>
          <a:tab pos="288003" algn="l"/>
          <a:tab pos="792005" algn="l"/>
        </a:tabLst>
        <a:defRPr sz="2201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88003" indent="0" algn="l" defTabSz="914407" rtl="0" eaLnBrk="1" latinLnBrk="0" hangingPunct="1">
        <a:lnSpc>
          <a:spcPct val="108000"/>
        </a:lnSpc>
        <a:spcBef>
          <a:spcPts val="130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288003" indent="-288003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&gt;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504004" indent="-216001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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88003" indent="-288003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+mj-lt"/>
        <a:buAutoNum type="arabicPeriod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3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3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2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4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1361" userDrawn="1">
          <p15:clr>
            <a:srgbClr val="F26B43"/>
          </p15:clr>
        </p15:guide>
        <p15:guide id="4" orient="horz" pos="650" userDrawn="1">
          <p15:clr>
            <a:srgbClr val="F26B43"/>
          </p15:clr>
        </p15:guide>
        <p15:guide id="5" orient="horz" pos="1194" userDrawn="1">
          <p15:clr>
            <a:srgbClr val="F26B43"/>
          </p15:clr>
        </p15:guide>
        <p15:guide id="6" orient="horz" pos="3932" userDrawn="1">
          <p15:clr>
            <a:srgbClr val="F26B43"/>
          </p15:clr>
        </p15:guide>
        <p15:guide id="7" orient="horz" pos="1400" userDrawn="1">
          <p15:clr>
            <a:srgbClr val="547EBF"/>
          </p15:clr>
        </p15:guide>
        <p15:guide id="8" orient="horz" pos="69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0DA7D-2573-D2F1-B5FA-A7AFDB932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ildplatzhalter 12">
            <a:extLst>
              <a:ext uri="{FF2B5EF4-FFF2-40B4-BE49-F238E27FC236}">
                <a16:creationId xmlns:a16="http://schemas.microsoft.com/office/drawing/2014/main" id="{1BBA263A-6693-2632-5399-3EEA8A7AC11A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3"/>
          <a:srcRect t="10567" b="10567"/>
          <a:stretch>
            <a:fillRect/>
          </a:stretch>
        </p:blipFill>
        <p:spPr/>
      </p:pic>
      <p:sp>
        <p:nvSpPr>
          <p:cNvPr id="33" name="Titel 32">
            <a:extLst>
              <a:ext uri="{FF2B5EF4-FFF2-40B4-BE49-F238E27FC236}">
                <a16:creationId xmlns:a16="http://schemas.microsoft.com/office/drawing/2014/main" id="{7CC265E4-C00E-0742-0DE7-20C93FCC73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Quantum Machine Learning</a:t>
            </a:r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71A5546B-AB7C-954D-FB4F-A72B5C50790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39BC0124-C579-6CED-2E37-99BFCC6F72B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1</a:t>
            </a:fld>
            <a:endParaRPr lang="en-US" noProof="0" dirty="0"/>
          </a:p>
        </p:txBody>
      </p: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0B5BC57-D85D-2FB2-955C-C3B8230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35" name="Vertikaler Textplatzhalter 34">
            <a:extLst>
              <a:ext uri="{FF2B5EF4-FFF2-40B4-BE49-F238E27FC236}">
                <a16:creationId xmlns:a16="http://schemas.microsoft.com/office/drawing/2014/main" id="{EB8BBE99-F0ED-7319-3074-9A77EFA13966}"/>
              </a:ext>
            </a:extLst>
          </p:cNvPr>
          <p:cNvSpPr>
            <a:spLocks noGrp="1"/>
          </p:cNvSpPr>
          <p:nvPr>
            <p:ph type="body" orient="vert" idx="19"/>
          </p:nvPr>
        </p:nvSpPr>
        <p:spPr/>
        <p:txBody>
          <a:bodyPr/>
          <a:lstStyle/>
          <a:p>
            <a:r>
              <a:rPr lang="en-US" noProof="0" dirty="0"/>
              <a:t>Classification of Handwritten Digits</a:t>
            </a:r>
          </a:p>
        </p:txBody>
      </p:sp>
      <p:sp>
        <p:nvSpPr>
          <p:cNvPr id="36" name="Vertikaler Textplatzhalter 35">
            <a:extLst>
              <a:ext uri="{FF2B5EF4-FFF2-40B4-BE49-F238E27FC236}">
                <a16:creationId xmlns:a16="http://schemas.microsoft.com/office/drawing/2014/main" id="{E43DF8C8-A1AB-9D41-7623-CA61E70D94F8}"/>
              </a:ext>
            </a:extLst>
          </p:cNvPr>
          <p:cNvSpPr>
            <a:spLocks noGrp="1"/>
          </p:cNvSpPr>
          <p:nvPr>
            <p:ph type="body" orient="vert" idx="20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30" name="Vertikaler Textplatzhalter 29">
            <a:extLst>
              <a:ext uri="{FF2B5EF4-FFF2-40B4-BE49-F238E27FC236}">
                <a16:creationId xmlns:a16="http://schemas.microsoft.com/office/drawing/2014/main" id="{7F3744B2-99DA-12DB-E582-309F055E4B37}"/>
              </a:ext>
            </a:extLst>
          </p:cNvPr>
          <p:cNvSpPr>
            <a:spLocks noGrp="1"/>
          </p:cNvSpPr>
          <p:nvPr>
            <p:ph type="body" orient="vert" idx="2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3499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81ABC-ABC7-9AAF-CC22-079FC349C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36AAE02-6D44-A316-4249-60628B167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F0CE2512-3637-F635-5A40-24400A291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AF2848E-C49E-7DC9-7354-99DA6FC0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69E1DC8E-AD83-596E-457D-CD1CFAA3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6F43DB06-59BB-1C73-EFA3-BDA5AB2DAD8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1"/>
            <a:r>
              <a:rPr lang="en-US" dirty="0"/>
              <a:t>Dataset Exploration</a:t>
            </a:r>
          </a:p>
          <a:p>
            <a:pPr lvl="1"/>
            <a:r>
              <a:rPr lang="en-US" dirty="0"/>
              <a:t>Feature Reduction</a:t>
            </a:r>
          </a:p>
          <a:p>
            <a:pPr lvl="1"/>
            <a:r>
              <a:rPr lang="en-US" dirty="0"/>
              <a:t>Encoding Circuit Selection</a:t>
            </a:r>
          </a:p>
          <a:p>
            <a:pPr lvl="1"/>
            <a:r>
              <a:rPr lang="en-US" dirty="0"/>
              <a:t>Observable Selection</a:t>
            </a:r>
          </a:p>
          <a:p>
            <a:pPr lvl="1"/>
            <a:r>
              <a:rPr lang="en-US" dirty="0"/>
              <a:t>Final Pipeline &amp; Evaluation</a:t>
            </a:r>
          </a:p>
          <a:p>
            <a:pPr lvl="1"/>
            <a:r>
              <a:rPr lang="en-US" dirty="0"/>
              <a:t>(Optional) Accelerated Hyperparameter Search</a:t>
            </a:r>
          </a:p>
          <a:p>
            <a:pPr lvl="6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2002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Dataset</a:t>
            </a:r>
            <a:br>
              <a:rPr lang="en-US" noProof="0" dirty="0"/>
            </a:br>
            <a:r>
              <a:rPr lang="en-US" noProof="0" dirty="0"/>
              <a:t>Exploration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1157627F-B7DC-4EFF-BD81-1A592AB8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A5FA3907-DD6F-499A-A65E-989C1842B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BE13F4B6-5C66-434E-98D4-89A7550E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7" name="Vertikaler Textplatzhalter 6"/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r>
              <a:rPr lang="en-US" noProof="0" dirty="0"/>
              <a:t>Getting to know the data.</a:t>
            </a:r>
          </a:p>
        </p:txBody>
      </p:sp>
    </p:spTree>
    <p:extLst>
      <p:ext uri="{BB962C8B-B14F-4D97-AF65-F5344CB8AC3E}">
        <p14:creationId xmlns:p14="http://schemas.microsoft.com/office/powerpoint/2010/main" val="1503323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382CE-DACD-CB47-6A62-9E81AD09C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9F055A75-459F-B2F4-99C2-60E529F35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ACE7C102-4892-3045-19A3-D3F58137A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70A56B90-2D9C-149D-19C4-EB9684057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EB28B34-C677-7BE9-53BB-E1375981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Dataset</a:t>
            </a:r>
            <a:br>
              <a:rPr lang="en-US" noProof="0" dirty="0"/>
            </a:br>
            <a:r>
              <a:rPr lang="en-US" noProof="0" dirty="0"/>
              <a:t>Exploration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C57C2FBA-1A94-E243-2A6A-8171FB7A6930}"/>
                  </a:ext>
                </a:extLst>
              </p:cNvPr>
              <p:cNvSpPr>
                <a:spLocks noGrp="1"/>
              </p:cNvSpPr>
              <p:nvPr>
                <p:ph idx="13"/>
              </p:nvPr>
            </p:nvSpPr>
            <p:spPr>
              <a:xfrm>
                <a:off x="5283199" y="2160589"/>
                <a:ext cx="6500289" cy="4083052"/>
              </a:xfrm>
            </p:spPr>
            <p:txBody>
              <a:bodyPr/>
              <a:lstStyle/>
              <a:p>
                <a:pPr marL="0" lvl="6" indent="0">
                  <a:buNone/>
                </a:pPr>
                <a:r>
                  <a:rPr lang="en-US" sz="2200" noProof="0" dirty="0"/>
                  <a:t>Each sample is represented as a 64-dimensional vector of pixel intensities, ranging from 0 to 16.</a:t>
                </a:r>
              </a:p>
              <a:p>
                <a:pPr marL="0" lvl="6" indent="0">
                  <a:buNone/>
                </a:pPr>
                <a:endParaRPr lang="en-US" sz="2200" noProof="0" dirty="0"/>
              </a:p>
              <a:p>
                <a:pPr marL="0" lvl="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2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200" i="1" noProof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200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noProof="0" smtClean="0">
                                  <a:latin typeface="Cambria Math" panose="02040503050406030204" pitchFamily="18" charset="0"/>
                                </a:rPr>
                                <m:t>… </m:t>
                              </m:r>
                              <m:r>
                                <a:rPr lang="en-US" sz="2200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noProof="0" smtClean="0">
                                  <a:latin typeface="Cambria Math" panose="02040503050406030204" pitchFamily="18" charset="0"/>
                                </a:rPr>
                                <m:t>64</m:t>
                              </m:r>
                            </m:sub>
                          </m:sSub>
                        </m:e>
                      </m:d>
                      <m:r>
                        <a:rPr lang="en-US" sz="2200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22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 noProof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 noProof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 noProof="0">
                              <a:latin typeface="Cambria Math" panose="02040503050406030204" pitchFamily="18" charset="0"/>
                            </a:rPr>
                            <m:t>0;16</m:t>
                          </m:r>
                        </m:e>
                      </m:d>
                    </m:oMath>
                  </m:oMathPara>
                </a14:m>
                <a:endParaRPr lang="en-US" sz="2200" i="1" noProof="0" dirty="0">
                  <a:latin typeface="Cambria Math" panose="02040503050406030204" pitchFamily="18" charset="0"/>
                </a:endParaRPr>
              </a:p>
              <a:p>
                <a:pPr marL="0" lvl="6" indent="0">
                  <a:buNone/>
                </a:pPr>
                <a:endParaRPr lang="en-US" sz="2200" noProof="0" dirty="0"/>
              </a:p>
              <a:p>
                <a:pPr marL="0" lvl="6" indent="0">
                  <a:buNone/>
                </a:pPr>
                <a:r>
                  <a:rPr lang="en-US" sz="2200" noProof="0" dirty="0"/>
                  <a:t>To reconstruct the image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200" noProof="0" dirty="0"/>
                  <a:t> from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200" noProof="0" dirty="0"/>
                  <a:t>, we need to reshape the vector to an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200" noProof="0" dirty="0"/>
                  <a:t> matrix:</a:t>
                </a:r>
              </a:p>
              <a:p>
                <a:pPr marL="0" lvl="6" indent="0">
                  <a:buNone/>
                </a:pPr>
                <a:endParaRPr lang="en-US" sz="2200" noProof="0" dirty="0"/>
              </a:p>
              <a:p>
                <a:pPr marL="0" lvl="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i="1" noProof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sz="2200" i="1" noProof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2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  <m:t>57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2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200" i="1" noProof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C57C2FBA-1A94-E243-2A6A-8171FB7A69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xfrm>
                <a:off x="5283199" y="2160589"/>
                <a:ext cx="6500289" cy="4083052"/>
              </a:xfrm>
              <a:blipFill>
                <a:blip r:embed="rId2"/>
                <a:stretch>
                  <a:fillRect l="-2734" t="-18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Grafik 1">
            <a:extLst>
              <a:ext uri="{FF2B5EF4-FFF2-40B4-BE49-F238E27FC236}">
                <a16:creationId xmlns:a16="http://schemas.microsoft.com/office/drawing/2014/main" id="{D40EB6AE-7423-B5D5-C186-AA948AE0B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8" y="2160589"/>
            <a:ext cx="4673602" cy="408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72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045E9-A432-F9C2-B3B2-DEC1B021E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7675FF29-A9ED-1580-E96B-A16354EE2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6CCD10E9-0C8D-B2AE-D4A7-864B5117C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77070264-1E10-9231-52E4-D521EF733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5E713BF-C050-64E0-58AD-7C6C36AA3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Dataset</a:t>
            </a:r>
            <a:br>
              <a:rPr lang="en-US" noProof="0" dirty="0"/>
            </a:br>
            <a:r>
              <a:rPr lang="en-US" noProof="0" dirty="0"/>
              <a:t>Exploration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19CB0607-A603-2891-AE28-50F99AF39A2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lvl="6" indent="0">
              <a:buNone/>
            </a:pPr>
            <a:r>
              <a:rPr lang="en-US" noProof="0" dirty="0"/>
              <a:t> 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E4CFBC6-0E79-70E1-F80C-153085D74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6" y="2160588"/>
            <a:ext cx="8543831" cy="40830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13">
                <a:extLst>
                  <a:ext uri="{FF2B5EF4-FFF2-40B4-BE49-F238E27FC236}">
                    <a16:creationId xmlns:a16="http://schemas.microsoft.com/office/drawing/2014/main" id="{18330912-6E66-4E97-7083-C6CF3E67A3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83040" y="2160589"/>
                <a:ext cx="2700448" cy="4083052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marL="0" indent="0" algn="l" defTabSz="914407" rtl="0" eaLnBrk="1" latinLnBrk="0" hangingPunct="1">
                  <a:lnSpc>
                    <a:spcPct val="105000"/>
                  </a:lnSpc>
                  <a:spcBef>
                    <a:spcPts val="0"/>
                  </a:spcBef>
                  <a:spcAft>
                    <a:spcPts val="1999"/>
                  </a:spcAft>
                  <a:buFont typeface="Arial" panose="020B0604020202020204" pitchFamily="34" charset="0"/>
                  <a:buNone/>
                  <a:tabLst>
                    <a:tab pos="288003" algn="l"/>
                    <a:tab pos="792005" algn="l"/>
                  </a:tabLst>
                  <a:defRPr sz="2201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88003" indent="-288003" algn="l" defTabSz="914407" rtl="0" eaLnBrk="1" latinLnBrk="0" hangingPunct="1">
                  <a:lnSpc>
                    <a:spcPct val="105000"/>
                  </a:lnSpc>
                  <a:spcBef>
                    <a:spcPts val="599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&gt;"/>
                  <a:tabLst>
                    <a:tab pos="288003" algn="l"/>
                    <a:tab pos="792005" algn="l"/>
                  </a:tabLst>
                  <a:defRPr sz="2201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0" indent="0" algn="l" defTabSz="914407" rtl="0" eaLnBrk="1" latinLnBrk="0" hangingPunct="1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tabLst>
                    <a:tab pos="288003" algn="l"/>
                    <a:tab pos="792005" algn="l"/>
                  </a:tabLst>
                  <a:defRPr sz="1999" b="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288003" indent="0" algn="l" defTabSz="914407" rtl="0" eaLnBrk="1" latinLnBrk="0" hangingPunct="1">
                  <a:lnSpc>
                    <a:spcPct val="108000"/>
                  </a:lnSpc>
                  <a:spcBef>
                    <a:spcPts val="130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tabLst>
                    <a:tab pos="288003" algn="l"/>
                    <a:tab pos="792005" algn="l"/>
                  </a:tabLst>
                  <a:defRPr sz="1999" b="1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88003" indent="-288003" algn="l" defTabSz="914407" rtl="0" eaLnBrk="1" latinLnBrk="0" hangingPunct="1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&gt;"/>
                  <a:tabLst>
                    <a:tab pos="288003" algn="l"/>
                    <a:tab pos="792005" algn="l"/>
                  </a:tabLst>
                  <a:defRPr sz="1999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504004" indent="-216001" algn="l" defTabSz="914407" rtl="0" eaLnBrk="1" latinLnBrk="0" hangingPunct="1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"/>
                  <a:tabLst>
                    <a:tab pos="288003" algn="l"/>
                    <a:tab pos="792005" algn="l"/>
                  </a:tabLst>
                  <a:defRPr sz="1999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88003" indent="-288003" algn="l" defTabSz="914407" rtl="0" eaLnBrk="1" latinLnBrk="0" hangingPunct="1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88003" algn="l"/>
                    <a:tab pos="792005" algn="l"/>
                  </a:tabLst>
                  <a:defRPr sz="1999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8003" indent="0" algn="l" defTabSz="914407" rtl="0" eaLnBrk="1" latinLnBrk="0" hangingPunct="1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tabLst>
                    <a:tab pos="288003" algn="l"/>
                    <a:tab pos="792005" algn="l"/>
                  </a:tabLst>
                  <a:defRPr sz="1999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7" rtl="0" eaLnBrk="1" latinLnBrk="0" hangingPunct="1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tabLst>
                    <a:tab pos="288003" algn="l"/>
                    <a:tab pos="792005" algn="l"/>
                  </a:tabLst>
                  <a:defRPr sz="1999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200" noProof="0" dirty="0"/>
                  <a:t>Each image is associated with a label</a:t>
                </a:r>
                <a:endParaRPr lang="en-US" sz="2200" b="0" i="1" noProof="0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i="1" noProof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200" b="0" i="1" noProof="0" smtClean="0">
                          <a:latin typeface="Cambria Math" panose="02040503050406030204" pitchFamily="18" charset="0"/>
                        </a:rPr>
                        <m:t>{0, 1, …, 9}</m:t>
                      </m:r>
                    </m:oMath>
                  </m:oMathPara>
                </a14:m>
                <a:endParaRPr lang="en-US" sz="2200" b="0" noProof="0" dirty="0"/>
              </a:p>
              <a:p>
                <a:r>
                  <a:rPr lang="en-US" sz="2200" noProof="0" dirty="0"/>
                  <a:t>representing the handwritten digit it contains.</a:t>
                </a:r>
              </a:p>
            </p:txBody>
          </p:sp>
        </mc:Choice>
        <mc:Fallback>
          <p:sp>
            <p:nvSpPr>
              <p:cNvPr id="3" name="Inhaltsplatzhalter 13">
                <a:extLst>
                  <a:ext uri="{FF2B5EF4-FFF2-40B4-BE49-F238E27FC236}">
                    <a16:creationId xmlns:a16="http://schemas.microsoft.com/office/drawing/2014/main" id="{18330912-6E66-4E97-7083-C6CF3E67A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040" y="2160589"/>
                <a:ext cx="2700448" cy="4083052"/>
              </a:xfrm>
              <a:prstGeom prst="rect">
                <a:avLst/>
              </a:prstGeom>
              <a:blipFill>
                <a:blip r:embed="rId3"/>
                <a:stretch>
                  <a:fillRect l="-6573" t="-18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232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3C1C9-0E0C-4A38-A2C8-E6F0B944B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13">
            <a:extLst>
              <a:ext uri="{FF2B5EF4-FFF2-40B4-BE49-F238E27FC236}">
                <a16:creationId xmlns:a16="http://schemas.microsoft.com/office/drawing/2014/main" id="{B53D698C-B26B-EE9F-32BF-6CF6F396809E}"/>
              </a:ext>
            </a:extLst>
          </p:cNvPr>
          <p:cNvSpPr txBox="1">
            <a:spLocks/>
          </p:cNvSpPr>
          <p:nvPr/>
        </p:nvSpPr>
        <p:spPr>
          <a:xfrm>
            <a:off x="6095999" y="2312989"/>
            <a:ext cx="5839889" cy="408305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7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1999"/>
              </a:spcAft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2201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3" indent="-288003" algn="l" defTabSz="914407" rtl="0" eaLnBrk="1" latinLnBrk="0" hangingPunct="1">
              <a:lnSpc>
                <a:spcPct val="105000"/>
              </a:lnSpc>
              <a:spcBef>
                <a:spcPts val="599"/>
              </a:spcBef>
              <a:buClr>
                <a:schemeClr val="accent1"/>
              </a:buClr>
              <a:buFont typeface="Arial" panose="020B0604020202020204" pitchFamily="34" charset="0"/>
              <a:buChar char="&gt;"/>
              <a:tabLst>
                <a:tab pos="288003" algn="l"/>
                <a:tab pos="792005" algn="l"/>
              </a:tabLst>
              <a:defRPr sz="2201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1999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288003" indent="0" algn="l" defTabSz="914407" rtl="0" eaLnBrk="1" latinLnBrk="0" hangingPunct="1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1999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88003" indent="-288003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&gt;"/>
              <a:tabLst>
                <a:tab pos="288003" algn="l"/>
                <a:tab pos="792005" algn="l"/>
              </a:tabLst>
              <a:defRPr sz="19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4004" indent="-216001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"/>
              <a:tabLst>
                <a:tab pos="288003" algn="l"/>
                <a:tab pos="792005" algn="l"/>
              </a:tabLst>
              <a:defRPr sz="19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8003" indent="-288003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288003" algn="l"/>
                <a:tab pos="792005" algn="l"/>
              </a:tabLst>
              <a:defRPr sz="19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3" indent="0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19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19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6" indent="0">
              <a:buNone/>
            </a:pPr>
            <a:endParaRPr lang="en-US" noProof="0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F2F4C18-D08A-E78D-F59A-5D36CF0B1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D9517311-0D25-8BD7-91E8-9202EDF77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F8E7757C-D078-7C4C-5C62-B7EDF3504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12883E9C-D4BE-D32D-6318-25C9F139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Dataset</a:t>
            </a:r>
            <a:br>
              <a:rPr lang="en-US" noProof="0" dirty="0"/>
            </a:br>
            <a:r>
              <a:rPr lang="en-US" noProof="0" dirty="0"/>
              <a:t>Exploration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C3FC298-E9C6-156A-6741-D6C90281C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4" y="2309498"/>
            <a:ext cx="5283195" cy="39432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93B4BB47-CF1C-18F8-68B6-8498037AE7AB}"/>
                  </a:ext>
                </a:extLst>
              </p:cNvPr>
              <p:cNvSpPr>
                <a:spLocks noGrp="1"/>
              </p:cNvSpPr>
              <p:nvPr>
                <p:ph idx="13"/>
              </p:nvPr>
            </p:nvSpPr>
            <p:spPr>
              <a:xfrm>
                <a:off x="6095999" y="2160589"/>
                <a:ext cx="5687490" cy="4083052"/>
              </a:xfrm>
            </p:spPr>
            <p:txBody>
              <a:bodyPr/>
              <a:lstStyle/>
              <a:p>
                <a:r>
                  <a:rPr lang="en-US" noProof="0" dirty="0"/>
                  <a:t>Since the classes are uniformly distributed, accuracy is an appropriate metric for model evaluation.</a:t>
                </a:r>
                <a:br>
                  <a:rPr lang="en-US" noProof="0" dirty="0"/>
                </a:br>
                <a:br>
                  <a:rPr lang="en-US" noProof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a:rPr lang="en-US" b="0" i="0" noProof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b="0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noProof="0" smtClean="0">
                              <a:latin typeface="Cambria Math" panose="02040503050406030204" pitchFamily="18" charset="0"/>
                            </a:rPr>
                            <m:t>Correct</m:t>
                          </m:r>
                          <m:r>
                            <a:rPr lang="en-US" b="0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noProof="0" smtClean="0">
                              <a:latin typeface="Cambria Math" panose="02040503050406030204" pitchFamily="18" charset="0"/>
                            </a:rPr>
                            <m:t>Predictions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noProof="0" smtClean="0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a:rPr lang="en-US" b="0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noProof="0" smtClean="0">
                              <a:latin typeface="Cambria Math" panose="02040503050406030204" pitchFamily="18" charset="0"/>
                            </a:rPr>
                            <m:t>Predictions</m:t>
                          </m:r>
                        </m:den>
                      </m:f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93B4BB47-CF1C-18F8-68B6-8498037AE7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xfrm>
                <a:off x="6095999" y="2160589"/>
                <a:ext cx="5687490" cy="4083052"/>
              </a:xfrm>
              <a:blipFill>
                <a:blip r:embed="rId3"/>
                <a:stretch>
                  <a:fillRect l="-3125" t="-18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9405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74641-AA42-52E5-41E4-BA0930AAF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CC5A1E49-11B4-633A-B2A8-DC2DCE39BE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Feature</a:t>
            </a:r>
            <a:br>
              <a:rPr lang="en-US" noProof="0" dirty="0"/>
            </a:br>
            <a:r>
              <a:rPr lang="en-US" noProof="0" dirty="0"/>
              <a:t>Reduction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C81F433B-194A-F648-96CB-790E7D93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0FA938F-27F8-88FC-BFA8-95B2F71DF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557F79D-8801-A7DD-FC1F-DBE6AFA7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353A59F3-B4FB-D517-5B26-1A5E86AEFA79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r>
              <a:rPr lang="en-US" noProof="0" dirty="0"/>
              <a:t>Trimming it down to the essentials.</a:t>
            </a:r>
          </a:p>
        </p:txBody>
      </p:sp>
    </p:spTree>
    <p:extLst>
      <p:ext uri="{BB962C8B-B14F-4D97-AF65-F5344CB8AC3E}">
        <p14:creationId xmlns:p14="http://schemas.microsoft.com/office/powerpoint/2010/main" val="1249642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D7B92-6755-0F01-2120-3F8D77C3E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2B68777D-2836-02A4-7EE0-71D9CAB33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ACE95FDB-35AB-03D3-8B7A-D62AF2637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08C7AED-BF07-9DDB-C551-BAB2FD239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240BCAF-14D0-6438-DC6F-2C843E67E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Feature</a:t>
            </a:r>
            <a:br>
              <a:rPr lang="en-US" noProof="0" dirty="0"/>
            </a:br>
            <a:r>
              <a:rPr lang="en-US" noProof="0" dirty="0"/>
              <a:t>Reduction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B2B8ED3-E1E8-72E9-5D91-22BD988ED5D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19440" y="2160589"/>
            <a:ext cx="3564048" cy="4083052"/>
          </a:xfrm>
        </p:spPr>
        <p:txBody>
          <a:bodyPr/>
          <a:lstStyle/>
          <a:p>
            <a:r>
              <a:rPr lang="en-US" sz="2200" b="1" dirty="0"/>
              <a:t>Decision: </a:t>
            </a:r>
            <a:r>
              <a:rPr lang="en-US" sz="2200" noProof="0" dirty="0" err="1">
                <a:cs typeface="Courier New" panose="02070309020205020404" pitchFamily="49" charset="0"/>
              </a:rPr>
              <a:t>Isomap</a:t>
            </a:r>
            <a:r>
              <a:rPr lang="en-US" sz="2200" noProof="0" dirty="0"/>
              <a:t> seems to deliver the highest accuracy and starts converging at five dimensions.</a:t>
            </a:r>
            <a:endParaRPr lang="en-US" sz="22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B5DF06D0-8DB8-F17E-6B64-9FD39FE30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6" y="2160588"/>
            <a:ext cx="7478118" cy="408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01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A591B40-3DE3-CA8D-5BC9-FE9AEC7BF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1B01BF8-A041-ABEF-43A0-AFEDB841C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1FB149-0AB8-E5BB-61FD-5A370B1F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47E58D6-2986-1A18-A69E-C77AB4340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Feature</a:t>
            </a:r>
            <a:br>
              <a:rPr lang="en-US" noProof="0" dirty="0"/>
            </a:br>
            <a:r>
              <a:rPr lang="en-US" noProof="0" dirty="0"/>
              <a:t>Reduction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39BCC3A-AF7E-A0AF-1452-60DAD222B28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C1E77EA-0A73-4EED-21A1-EFF9A0B07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7" y="2167048"/>
            <a:ext cx="11377084" cy="359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89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B25AB-7DF9-F7EA-1C6D-A4B039028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3F11C860-68F4-67EB-72B3-D85CFB5CB5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Encoding Circuit</a:t>
            </a:r>
            <a:br>
              <a:rPr lang="en-US" noProof="0" dirty="0"/>
            </a:br>
            <a:r>
              <a:rPr lang="en-US" noProof="0" dirty="0"/>
              <a:t>Selection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1936CC9A-18EF-E085-BB5B-38700C269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BAEFA4F8-0A68-10E3-53CB-4582A2102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4D4DD12-B824-BBD2-9DEB-A102AB37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6B85A3-79FA-E87C-E50F-E874A1E14AF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noProof="0" dirty="0"/>
              <a:t>Getting data into the quantum state.</a:t>
            </a:r>
          </a:p>
        </p:txBody>
      </p:sp>
    </p:spTree>
    <p:extLst>
      <p:ext uri="{BB962C8B-B14F-4D97-AF65-F5344CB8AC3E}">
        <p14:creationId xmlns:p14="http://schemas.microsoft.com/office/powerpoint/2010/main" val="2183736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2E0FC-5F1D-0722-0E75-81396A5CC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C9F646C9-CDFA-BD36-C810-970D76AB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D0CFFCC-2BA2-7F28-0ACC-F7C3D9E2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8AA110E-0DA3-5D81-9D49-26826613C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5288DC18-BDB6-B31F-E393-EF55F819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Encoding</a:t>
            </a:r>
            <a:br>
              <a:rPr lang="en-US" noProof="0" dirty="0"/>
            </a:br>
            <a:r>
              <a:rPr lang="en-US" noProof="0" dirty="0"/>
              <a:t>Circuit Selection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D2C20C-93D5-15D6-DA62-45F3FD9F3BA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3"/>
            <a:r>
              <a:rPr lang="en-US" sz="2200" noProof="0" dirty="0"/>
              <a:t>Optimization Problem</a:t>
            </a:r>
          </a:p>
          <a:p>
            <a:pPr lvl="4"/>
            <a:r>
              <a:rPr lang="en-US" sz="2200" noProof="0" dirty="0"/>
              <a:t>Maximize accuracy: Achieve the highest possible predictive performance</a:t>
            </a:r>
          </a:p>
          <a:p>
            <a:pPr lvl="4"/>
            <a:r>
              <a:rPr lang="en-US" sz="2200" noProof="0" dirty="0"/>
              <a:t>Minimize gate count: Reduce circuit depth to mitigate noise on real hardware</a:t>
            </a:r>
          </a:p>
          <a:p>
            <a:pPr lvl="3"/>
            <a:r>
              <a:rPr lang="en-US" sz="2200" noProof="0" dirty="0"/>
              <a:t>Types of Encoding Circuits</a:t>
            </a:r>
          </a:p>
          <a:p>
            <a:pPr lvl="4"/>
            <a:r>
              <a:rPr lang="en-US" sz="2200" noProof="0" dirty="0"/>
              <a:t>Predefined, parametrized circuits (e.g., 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ChebyshevPQC</a:t>
            </a:r>
            <a:r>
              <a:rPr lang="en-US" sz="2200" noProof="0" dirty="0"/>
              <a:t>, 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ParamZFeatureMap</a:t>
            </a:r>
            <a:r>
              <a:rPr lang="en-US" sz="2200" noProof="0" dirty="0"/>
              <a:t>, …)</a:t>
            </a:r>
          </a:p>
          <a:p>
            <a:pPr lvl="4"/>
            <a:r>
              <a:rPr lang="en-US" sz="2200" noProof="0" dirty="0"/>
              <a:t>Randomly generated, non-parametrized circuits (e.g., 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RandomLayeredEncodingCircuit</a:t>
            </a:r>
            <a:r>
              <a:rPr lang="en-US" sz="2200" noProof="0" dirty="0"/>
              <a:t>)</a:t>
            </a:r>
          </a:p>
          <a:p>
            <a:pPr lvl="3"/>
            <a:r>
              <a:rPr lang="en-US" sz="2200" noProof="0" dirty="0"/>
              <a:t>Hyperparameter Search</a:t>
            </a:r>
          </a:p>
          <a:p>
            <a:pPr lvl="4"/>
            <a:r>
              <a:rPr lang="en-US" sz="2200" noProof="0" dirty="0"/>
              <a:t>Each encoding circuit was tested with 1-5 qubits and 1-5 layers (25 combinations)</a:t>
            </a:r>
          </a:p>
          <a:p>
            <a:pPr lvl="4"/>
            <a:r>
              <a:rPr lang="en-US" sz="2200" noProof="0" dirty="0"/>
              <a:t>Random circuits were initialized using quantum physicists' birthdays as seeds</a:t>
            </a:r>
          </a:p>
          <a:p>
            <a:pPr lvl="4"/>
            <a:endParaRPr lang="en-US" sz="2200" noProof="0" dirty="0"/>
          </a:p>
        </p:txBody>
      </p:sp>
    </p:spTree>
    <p:extLst>
      <p:ext uri="{BB962C8B-B14F-4D97-AF65-F5344CB8AC3E}">
        <p14:creationId xmlns:p14="http://schemas.microsoft.com/office/powerpoint/2010/main" val="4231339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AE5C7-FBDD-8A37-9486-6C4CE9A68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6B607C3-7188-7BA3-F04F-4605A4D7E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F1A23C-5BBF-A653-250A-FC4CBC2F2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20E881-55BC-6232-D964-D99B546BF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80FCEE1-7177-0ED5-B445-46A839A03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Encoding</a:t>
            </a:r>
            <a:br>
              <a:rPr lang="en-US" noProof="0" dirty="0"/>
            </a:br>
            <a:r>
              <a:rPr lang="en-US" noProof="0" dirty="0"/>
              <a:t>Circuit Selection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82D3C19F-ECA7-0103-3382-6CFDCC9FF341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406397" y="2163819"/>
            <a:ext cx="7727267" cy="408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04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5E9FE-6BF8-F698-75B4-C035AF72C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0EB1F55-D7A4-DEA9-CD74-27201DAD9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410577-B483-673F-AB21-653483F4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22FA0C-0ADA-7F4F-42E7-F11A44C09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F79B00C-D21E-F74E-6ED3-39B5A715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Encoding</a:t>
            </a:r>
            <a:br>
              <a:rPr lang="en-US" noProof="0" dirty="0"/>
            </a:br>
            <a:r>
              <a:rPr lang="en-US" noProof="0" dirty="0"/>
              <a:t>Circuit Selection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404A47D3-4D79-D6FF-16C8-BFBCE4E09676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406397" y="2163819"/>
            <a:ext cx="7727267" cy="408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033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54439-7CE5-5BBF-086E-5F1827771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A95212DB-14C5-0E80-50EB-10B714AA3BB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6405" y="2160589"/>
            <a:ext cx="11377084" cy="4083052"/>
          </a:xfrm>
        </p:spPr>
        <p:txBody>
          <a:bodyPr/>
          <a:lstStyle/>
          <a:p>
            <a:r>
              <a:rPr lang="en-US" b="1" noProof="0" dirty="0"/>
              <a:t>Decision: </a:t>
            </a:r>
            <a:r>
              <a:rPr lang="en-US" noProof="0" dirty="0"/>
              <a:t>The random encoding circuit with 5 qubits, 3 layers, and seed 12081887 at the elbow of the Pareto front represents the optimal trade-off between accuracy and gate count.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3980C110-0CA8-293C-2EA9-5530BB637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6A57127-F55B-2B77-6876-C3E0A1C81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6C0DFAE2-2CDF-7B0B-536B-31BEA529D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7D0B9EB-8F22-6EB5-AC3F-0E531D93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Encoding</a:t>
            </a:r>
            <a:br>
              <a:rPr lang="en-US" noProof="0" dirty="0"/>
            </a:br>
            <a:r>
              <a:rPr lang="en-US" noProof="0" dirty="0"/>
              <a:t>Circuit Selection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3DCDA8F-6997-32AE-164C-90D879764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45" y="3055890"/>
            <a:ext cx="2862787" cy="318775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52803D0-E884-8B3A-F0EE-E11539DE1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198" y="3055244"/>
            <a:ext cx="4163489" cy="318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3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9F8B3-8C5F-6C5D-2A97-35DA99EB7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B4F05A9D-D700-25FB-091D-48221E87E8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OBSERVABLE</a:t>
            </a:r>
            <a:br>
              <a:rPr lang="en-US" noProof="0" dirty="0"/>
            </a:br>
            <a:r>
              <a:rPr lang="en-US" noProof="0" dirty="0"/>
              <a:t>Selection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05E12EAD-41FD-D109-68E1-F50EF7A28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E849273-88C7-3CBF-B07A-A5109DCB9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7B0B2F1B-8350-CEA2-004E-E06BBBA8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1CA48D2D-8F49-F0A9-ADEE-25DBFCEEF10E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r>
              <a:rPr lang="en-US" noProof="0" dirty="0"/>
              <a:t>Finding the best way to measure.</a:t>
            </a:r>
          </a:p>
        </p:txBody>
      </p:sp>
    </p:spTree>
    <p:extLst>
      <p:ext uri="{BB962C8B-B14F-4D97-AF65-F5344CB8AC3E}">
        <p14:creationId xmlns:p14="http://schemas.microsoft.com/office/powerpoint/2010/main" val="2839664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D4A3D-4280-4DA7-37C8-14AD885B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CFD8BD2B-891E-0837-D0C2-B7AD2367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81703D8C-9ECF-5378-CA6F-FCC6BCD3C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39139C3-CDDB-E41C-EEF7-95E9634A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640F6CED-DA6D-17F2-E002-C5E97202A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Observable</a:t>
            </a:r>
            <a:br>
              <a:rPr lang="en-US" noProof="0" dirty="0"/>
            </a:br>
            <a:r>
              <a:rPr lang="en-US" noProof="0" dirty="0"/>
              <a:t>Selection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87D4143-836F-8CE3-8411-30F676191A33}"/>
                  </a:ext>
                </a:extLst>
              </p:cNvPr>
              <p:cNvSpPr>
                <a:spLocks noGrp="1"/>
              </p:cNvSpPr>
              <p:nvPr>
                <p:ph idx="13"/>
              </p:nvPr>
            </p:nvSpPr>
            <p:spPr/>
            <p:txBody>
              <a:bodyPr/>
              <a:lstStyle/>
              <a:p>
                <a:pPr lvl="3"/>
                <a:r>
                  <a:rPr lang="en-US" sz="2200" noProof="0" dirty="0"/>
                  <a:t>Optimization Problem</a:t>
                </a:r>
              </a:p>
              <a:p>
                <a:pPr lvl="4"/>
                <a:r>
                  <a:rPr lang="en-US" sz="2200" noProof="0" dirty="0"/>
                  <a:t>Maximize accuracy: Achieve the highest possible predictive performance</a:t>
                </a:r>
              </a:p>
              <a:p>
                <a:pPr lvl="4"/>
                <a:r>
                  <a:rPr lang="en-US" sz="2200" noProof="0" dirty="0"/>
                  <a:t>Minimize gate count: Reduce the complexity of the observable</a:t>
                </a:r>
              </a:p>
              <a:p>
                <a:pPr lvl="3"/>
                <a:r>
                  <a:rPr lang="en-US" sz="2200" noProof="0" dirty="0"/>
                  <a:t>Example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200" i="1" noProof="0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87D4143-836F-8CE3-8411-30F676191A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blipFill>
                <a:blip r:embed="rId3"/>
                <a:stretch>
                  <a:fillRect l="-1451" t="-18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fik 3">
            <a:extLst>
              <a:ext uri="{FF2B5EF4-FFF2-40B4-BE49-F238E27FC236}">
                <a16:creationId xmlns:a16="http://schemas.microsoft.com/office/drawing/2014/main" id="{6008E11C-F273-AD31-BF30-8DEC79111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933" y="4325941"/>
            <a:ext cx="3619500" cy="19177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1854F59-6293-E390-DA31-16CF85E21E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7101" y="4325941"/>
            <a:ext cx="3048000" cy="19177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11A893C-467B-A4B1-02B6-BEC3E0831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397" y="4325941"/>
            <a:ext cx="1524000" cy="1511300"/>
          </a:xfrm>
          <a:prstGeom prst="rect">
            <a:avLst/>
          </a:prstGeom>
        </p:spPr>
      </p:pic>
      <p:sp>
        <p:nvSpPr>
          <p:cNvPr id="7" name="Pfeil nach rechts 6">
            <a:extLst>
              <a:ext uri="{FF2B5EF4-FFF2-40B4-BE49-F238E27FC236}">
                <a16:creationId xmlns:a16="http://schemas.microsoft.com/office/drawing/2014/main" id="{5F167363-D3E1-2008-01D1-22D73A56C800}"/>
              </a:ext>
            </a:extLst>
          </p:cNvPr>
          <p:cNvSpPr/>
          <p:nvPr/>
        </p:nvSpPr>
        <p:spPr>
          <a:xfrm>
            <a:off x="2278065" y="5199199"/>
            <a:ext cx="584200" cy="17118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lus 7">
            <a:extLst>
              <a:ext uri="{FF2B5EF4-FFF2-40B4-BE49-F238E27FC236}">
                <a16:creationId xmlns:a16="http://schemas.microsoft.com/office/drawing/2014/main" id="{2FCF6F17-7777-DE32-8CEB-9E92BBC4976A}"/>
              </a:ext>
            </a:extLst>
          </p:cNvPr>
          <p:cNvSpPr/>
          <p:nvPr/>
        </p:nvSpPr>
        <p:spPr>
          <a:xfrm>
            <a:off x="7177101" y="5104790"/>
            <a:ext cx="360000" cy="360000"/>
          </a:xfrm>
          <a:prstGeom prst="mathPlu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624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A7F55-2377-B4FE-F5DA-6548526A7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" name="Inhaltsplatzhalter 14">
                <a:extLst>
                  <a:ext uri="{FF2B5EF4-FFF2-40B4-BE49-F238E27FC236}">
                    <a16:creationId xmlns:a16="http://schemas.microsoft.com/office/drawing/2014/main" id="{67635759-B949-D732-975F-1CB20A692871}"/>
                  </a:ext>
                </a:extLst>
              </p:cNvPr>
              <p:cNvSpPr>
                <a:spLocks noGrp="1"/>
              </p:cNvSpPr>
              <p:nvPr>
                <p:ph idx="13"/>
              </p:nvPr>
            </p:nvSpPr>
            <p:spPr/>
            <p:txBody>
              <a:bodyPr/>
              <a:lstStyle/>
              <a:p>
                <a:r>
                  <a:rPr lang="en-US" b="1" noProof="0" dirty="0"/>
                  <a:t>Preselection: </a:t>
                </a:r>
                <a:r>
                  <a:rPr lang="en-US" noProof="0" dirty="0"/>
                  <a:t>The chosen encoding circuit consists only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noProof="0" dirty="0"/>
                  <a:t> gates, meaning the feature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200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/>
                  <a:t>is encoded only within the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𝑋𝑍</m:t>
                    </m:r>
                  </m:oMath>
                </a14:m>
                <a:r>
                  <a:rPr lang="en-US" noProof="0" dirty="0"/>
                  <a:t> plane of the Bloch sphere. Consequently, we can restrict the hyperparameter search to observables measuring in the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noProof="0" dirty="0"/>
                  <a:t> bases.</a:t>
                </a:r>
              </a:p>
              <a:p>
                <a:endParaRPr lang="en-US" sz="1200" noProof="0" dirty="0"/>
              </a:p>
              <a:p>
                <a:r>
                  <a:rPr lang="en-US" noProof="0" dirty="0"/>
                  <a:t>					State vectors of the first 100 handwritten digits:</a:t>
                </a:r>
              </a:p>
              <a:p>
                <a:endParaRPr lang="en-US" noProof="0" dirty="0"/>
              </a:p>
            </p:txBody>
          </p:sp>
        </mc:Choice>
        <mc:Fallback>
          <p:sp>
            <p:nvSpPr>
              <p:cNvPr id="15" name="Inhaltsplatzhalter 14">
                <a:extLst>
                  <a:ext uri="{FF2B5EF4-FFF2-40B4-BE49-F238E27FC236}">
                    <a16:creationId xmlns:a16="http://schemas.microsoft.com/office/drawing/2014/main" id="{67635759-B949-D732-975F-1CB20A6928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blipFill>
                <a:blip r:embed="rId3"/>
                <a:stretch>
                  <a:fillRect l="-1563" t="-18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1E3DB990-A3A7-A180-6AA7-B9FA48B87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EB28773-F111-FF8A-7E08-E3EA53A9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B03C5BB8-FB7F-1E68-2618-885EFD79F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37E589C3-134E-2941-CAB3-717E7A1E1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Observable</a:t>
            </a:r>
            <a:br>
              <a:rPr lang="en-US" noProof="0" dirty="0"/>
            </a:br>
            <a:r>
              <a:rPr lang="en-US" noProof="0" dirty="0"/>
              <a:t>Selection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A65496D-A92A-802B-2F21-F5990485A2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582"/>
          <a:stretch>
            <a:fillRect/>
          </a:stretch>
        </p:blipFill>
        <p:spPr>
          <a:xfrm>
            <a:off x="406397" y="3278840"/>
            <a:ext cx="2650064" cy="296480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618364E-1CFC-7676-8C3B-97BA5233EF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49"/>
          <a:stretch>
            <a:fillRect/>
          </a:stretch>
        </p:blipFill>
        <p:spPr>
          <a:xfrm>
            <a:off x="3073053" y="4326468"/>
            <a:ext cx="8710435" cy="191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03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8E091-4137-B727-4E4D-B1589DD3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9ECC7A-9B6B-B3B2-052D-1FC8EC4F0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52E90B-1EFB-3F0C-171D-F5B6011E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592A0F-C0E4-61F2-77A8-5E282D4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B07DD19-C823-F749-2983-9D2A1EEE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Observable</a:t>
            </a:r>
            <a:br>
              <a:rPr lang="en-US" noProof="0" dirty="0"/>
            </a:br>
            <a:r>
              <a:rPr lang="en-US" noProof="0" dirty="0"/>
              <a:t>Selection</a:t>
            </a:r>
          </a:p>
        </p:txBody>
      </p:sp>
      <p:pic>
        <p:nvPicPr>
          <p:cNvPr id="13" name="Inhaltsplatzhalter 12">
            <a:extLst>
              <a:ext uri="{FF2B5EF4-FFF2-40B4-BE49-F238E27FC236}">
                <a16:creationId xmlns:a16="http://schemas.microsoft.com/office/drawing/2014/main" id="{05E731F1-CF37-D030-C441-E0C34AAB349D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406397" y="2163819"/>
            <a:ext cx="7727267" cy="408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289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E1176-DCCD-12E9-9D7A-1833B5F10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69A290-D3C8-30B7-C1FD-271064256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15B4612-2571-9232-DEFB-F1D2AB234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7FC832-B981-58CA-861C-23B9385D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1DA799B-7189-D120-9B20-B8479BBF5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Observable</a:t>
            </a:r>
            <a:br>
              <a:rPr lang="en-US" noProof="0" dirty="0"/>
            </a:br>
            <a:r>
              <a:rPr lang="en-US" noProof="0" dirty="0"/>
              <a:t>Selection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491E8960-5C39-7492-6727-EA8894D2B136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406397" y="2163819"/>
            <a:ext cx="7727267" cy="408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052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68993-780F-5937-1809-135FB59F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8EAC4A3-7E0B-EB62-AD25-814200E0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151250-CD5D-3B71-3FA6-8BE4AB5E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889371-3CDC-A835-5211-F44CAC0A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750C1B2-8D1E-EEAA-2FB0-EBE740159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Observable</a:t>
            </a:r>
            <a:br>
              <a:rPr lang="en-US" noProof="0" dirty="0"/>
            </a:br>
            <a:r>
              <a:rPr lang="en-US" noProof="0" dirty="0"/>
              <a:t>Selection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80E31008-B82F-0AE8-CBA3-FD9147661356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rcRect t="14492"/>
          <a:stretch>
            <a:fillRect/>
          </a:stretch>
        </p:blipFill>
        <p:spPr>
          <a:xfrm>
            <a:off x="397930" y="3429000"/>
            <a:ext cx="11377092" cy="27060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Inhaltsplatzhalter 5">
                <a:extLst>
                  <a:ext uri="{FF2B5EF4-FFF2-40B4-BE49-F238E27FC236}">
                    <a16:creationId xmlns:a16="http://schemas.microsoft.com/office/drawing/2014/main" id="{01B9860D-1481-7D6A-BEAB-3A16A6F891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5" y="2160589"/>
                <a:ext cx="11377084" cy="4083052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marL="0" indent="0" algn="l" defTabSz="914407" rtl="0" eaLnBrk="1" latinLnBrk="0" hangingPunct="1">
                  <a:lnSpc>
                    <a:spcPct val="105000"/>
                  </a:lnSpc>
                  <a:spcBef>
                    <a:spcPts val="0"/>
                  </a:spcBef>
                  <a:spcAft>
                    <a:spcPts val="1999"/>
                  </a:spcAft>
                  <a:buFont typeface="Arial" panose="020B0604020202020204" pitchFamily="34" charset="0"/>
                  <a:buNone/>
                  <a:tabLst>
                    <a:tab pos="288003" algn="l"/>
                    <a:tab pos="792005" algn="l"/>
                  </a:tabLst>
                  <a:defRPr sz="2201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88003" indent="-288003" algn="l" defTabSz="914407" rtl="0" eaLnBrk="1" latinLnBrk="0" hangingPunct="1">
                  <a:lnSpc>
                    <a:spcPct val="105000"/>
                  </a:lnSpc>
                  <a:spcBef>
                    <a:spcPts val="599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&gt;"/>
                  <a:tabLst>
                    <a:tab pos="288003" algn="l"/>
                    <a:tab pos="792005" algn="l"/>
                  </a:tabLst>
                  <a:defRPr sz="2201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0" indent="0" algn="l" defTabSz="914407" rtl="0" eaLnBrk="1" latinLnBrk="0" hangingPunct="1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tabLst>
                    <a:tab pos="288003" algn="l"/>
                    <a:tab pos="792005" algn="l"/>
                  </a:tabLst>
                  <a:defRPr sz="1999" b="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288003" indent="0" algn="l" defTabSz="914407" rtl="0" eaLnBrk="1" latinLnBrk="0" hangingPunct="1">
                  <a:lnSpc>
                    <a:spcPct val="108000"/>
                  </a:lnSpc>
                  <a:spcBef>
                    <a:spcPts val="130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tabLst>
                    <a:tab pos="288003" algn="l"/>
                    <a:tab pos="792005" algn="l"/>
                  </a:tabLst>
                  <a:defRPr sz="1999" b="1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88003" indent="-288003" algn="l" defTabSz="914407" rtl="0" eaLnBrk="1" latinLnBrk="0" hangingPunct="1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&gt;"/>
                  <a:tabLst>
                    <a:tab pos="288003" algn="l"/>
                    <a:tab pos="792005" algn="l"/>
                  </a:tabLst>
                  <a:defRPr sz="1999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504004" indent="-216001" algn="l" defTabSz="914407" rtl="0" eaLnBrk="1" latinLnBrk="0" hangingPunct="1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"/>
                  <a:tabLst>
                    <a:tab pos="288003" algn="l"/>
                    <a:tab pos="792005" algn="l"/>
                  </a:tabLst>
                  <a:defRPr sz="1999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88003" indent="-288003" algn="l" defTabSz="914407" rtl="0" eaLnBrk="1" latinLnBrk="0" hangingPunct="1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88003" algn="l"/>
                    <a:tab pos="792005" algn="l"/>
                  </a:tabLst>
                  <a:defRPr sz="1999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8003" indent="0" algn="l" defTabSz="914407" rtl="0" eaLnBrk="1" latinLnBrk="0" hangingPunct="1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tabLst>
                    <a:tab pos="288003" algn="l"/>
                    <a:tab pos="792005" algn="l"/>
                  </a:tabLst>
                  <a:defRPr sz="1999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7" rtl="0" eaLnBrk="1" latinLnBrk="0" hangingPunct="1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None/>
                  <a:tabLst>
                    <a:tab pos="288003" algn="l"/>
                    <a:tab pos="792005" algn="l"/>
                  </a:tabLst>
                  <a:defRPr sz="1999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noProof="0" dirty="0"/>
                  <a:t>Decision: </a:t>
                </a:r>
                <a:r>
                  <a:rPr lang="en-US" noProof="0" dirty="0"/>
                  <a:t>The Ising Hamiltonian is the optimal observable that measures every single qubit and all qubit pairs in the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noProof="0" dirty="0"/>
                  <a:t> basis. Since all terms share the same basis, we can measure the entire observable using only a single circuit.</a:t>
                </a:r>
                <a:endParaRPr lang="en-US" sz="2200" noProof="0" dirty="0"/>
              </a:p>
            </p:txBody>
          </p:sp>
        </mc:Choice>
        <mc:Fallback>
          <p:sp>
            <p:nvSpPr>
              <p:cNvPr id="10" name="Inhaltsplatzhalter 5">
                <a:extLst>
                  <a:ext uri="{FF2B5EF4-FFF2-40B4-BE49-F238E27FC236}">
                    <a16:creationId xmlns:a16="http://schemas.microsoft.com/office/drawing/2014/main" id="{01B9860D-1481-7D6A-BEAB-3A16A6F89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5" y="2160589"/>
                <a:ext cx="11377084" cy="4083052"/>
              </a:xfrm>
              <a:prstGeom prst="rect">
                <a:avLst/>
              </a:prstGeom>
              <a:blipFill>
                <a:blip r:embed="rId3"/>
                <a:stretch>
                  <a:fillRect l="-1563" t="-1858" r="-17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943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B4708-CD81-9345-4409-D643FCDB5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73140AEB-A3DD-E5D4-4687-F50176C953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Final Pipeline</a:t>
            </a:r>
            <a:br>
              <a:rPr lang="en-US" noProof="0" dirty="0"/>
            </a:br>
            <a:r>
              <a:rPr lang="en-US" noProof="0" dirty="0"/>
              <a:t>&amp; Evaluation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6F697799-3991-015F-8663-B4C44D5E2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8F9DB14-3A54-7442-2F87-BE161314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887C3407-6975-5F83-7D2B-EB9C34B2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AC87C0F3-6EB1-2534-14BE-E4A339417D0A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r>
              <a:rPr lang="en-US" noProof="0" dirty="0"/>
              <a:t>Bringing it all together.</a:t>
            </a:r>
          </a:p>
        </p:txBody>
      </p:sp>
    </p:spTree>
    <p:extLst>
      <p:ext uri="{BB962C8B-B14F-4D97-AF65-F5344CB8AC3E}">
        <p14:creationId xmlns:p14="http://schemas.microsoft.com/office/powerpoint/2010/main" val="2847387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6719D58-040F-C078-67BE-A390EBAE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F15A407-4D50-E91E-4AF8-F013F332D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303DF1-E34A-63CE-1A1A-1CB868631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CB42B1E-7F28-C24C-9DEA-8AE15893E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Final Pipeline</a:t>
            </a:r>
            <a:br>
              <a:rPr lang="en-US" noProof="0" dirty="0"/>
            </a:br>
            <a:r>
              <a:rPr lang="en-US" noProof="0" dirty="0"/>
              <a:t>&amp; Evaluation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BCF7E4-DA8D-B556-2DA3-F6105ADFE4F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 i="1" noProof="0" dirty="0">
              <a:latin typeface="Cambria Math" panose="02040503050406030204" pitchFamily="18" charset="0"/>
            </a:endParaRPr>
          </a:p>
          <a:p>
            <a:endParaRPr lang="en-US" i="1" noProof="0" dirty="0">
              <a:latin typeface="Cambria Math" panose="02040503050406030204" pitchFamily="18" charset="0"/>
            </a:endParaRPr>
          </a:p>
          <a:p>
            <a:endParaRPr lang="en-US" i="1" noProof="0" dirty="0">
              <a:latin typeface="Cambria Math" panose="02040503050406030204" pitchFamily="18" charset="0"/>
            </a:endParaRPr>
          </a:p>
          <a:p>
            <a:endParaRPr lang="en-US" i="1" noProof="0" dirty="0">
              <a:latin typeface="Cambria Math" panose="02040503050406030204" pitchFamily="18" charset="0"/>
            </a:endParaRPr>
          </a:p>
          <a:p>
            <a:endParaRPr lang="en-US" sz="600" i="1" dirty="0">
              <a:latin typeface="Cambria Math" panose="02040503050406030204" pitchFamily="18" charset="0"/>
            </a:endParaRPr>
          </a:p>
          <a:p>
            <a:r>
              <a:rPr lang="en-US" i="1" dirty="0">
                <a:latin typeface="Cambria Math" panose="02040503050406030204" pitchFamily="18" charset="0"/>
              </a:rPr>
              <a:t>							         	 </a:t>
            </a:r>
            <a:r>
              <a:rPr lang="en-US" sz="1800" dirty="0"/>
              <a:t>(no trainable parameters)             (trainable coefficients)</a:t>
            </a:r>
            <a:r>
              <a:rPr lang="en-US" sz="1800" noProof="0" dirty="0"/>
              <a:t>	</a:t>
            </a:r>
            <a:r>
              <a:rPr lang="en-US" i="1" noProof="0" dirty="0">
                <a:latin typeface="Cambria Math" panose="02040503050406030204" pitchFamily="18" charset="0"/>
              </a:rPr>
              <a:t>									</a:t>
            </a:r>
          </a:p>
          <a:p>
            <a:r>
              <a:rPr lang="en-US" i="1" noProof="0" dirty="0">
                <a:latin typeface="Cambria Math" panose="02040503050406030204" pitchFamily="18" charset="0"/>
              </a:rPr>
              <a:t>										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E5DFC96-09A0-DE8F-95D9-D368B42B96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740" t="6739" r="37311"/>
          <a:stretch>
            <a:fillRect/>
          </a:stretch>
        </p:blipFill>
        <p:spPr>
          <a:xfrm>
            <a:off x="2931613" y="2682256"/>
            <a:ext cx="2346977" cy="2161970"/>
          </a:xfrm>
          <a:prstGeom prst="rect">
            <a:avLst/>
          </a:prstGeom>
          <a:ln>
            <a:noFill/>
          </a:ln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C9039CF-1CD5-A9D7-2E11-80BB141622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82" t="8482" b="4720"/>
          <a:stretch>
            <a:fillRect/>
          </a:stretch>
        </p:blipFill>
        <p:spPr>
          <a:xfrm>
            <a:off x="6001056" y="2682256"/>
            <a:ext cx="2225182" cy="2160824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AB616A0-4351-6535-F234-E84806FFD8EF}"/>
                  </a:ext>
                </a:extLst>
              </p:cNvPr>
              <p:cNvSpPr txBox="1"/>
              <p:nvPr/>
            </p:nvSpPr>
            <p:spPr>
              <a:xfrm>
                <a:off x="8948704" y="2682256"/>
                <a:ext cx="2834785" cy="2062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𝐼𝐼𝐼𝐼𝐼</m:t>
                      </m:r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𝐼𝐼𝐼𝐼𝑍</m:t>
                      </m:r>
                    </m:oMath>
                    <m:oMath xmlns:m="http://schemas.openxmlformats.org/officeDocument/2006/math"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𝐼𝐼𝐼𝑍𝐼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𝐼𝐼𝑍𝐼𝐼</m:t>
                      </m:r>
                    </m:oMath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            +</m:t>
                      </m:r>
                      <m:sSub>
                        <m:sSub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𝐼𝑍𝐼𝐼𝐼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𝑍𝐼𝐼𝐼𝐼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𝐼𝐼𝐼𝑍𝑍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𝐼𝐼𝑍𝐼𝑍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𝐼𝐼𝑍𝑍𝐼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𝐼𝑍𝐼𝐼𝑍</m:t>
                      </m:r>
                    </m:oMath>
                    <m:oMath xmlns:m="http://schemas.openxmlformats.org/officeDocument/2006/math"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𝐼𝑍𝐼𝑍𝐼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𝐼𝑍𝑍𝐼𝐼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𝑍𝐼𝐼𝐼𝑍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𝑍𝐼𝐼𝑍𝐼</m:t>
                      </m:r>
                    </m:oMath>
                    <m:oMath xmlns:m="http://schemas.openxmlformats.org/officeDocument/2006/math"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𝑍𝐼𝑍𝐼𝐼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𝑍𝑍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𝐼𝐼</m:t>
                      </m:r>
                    </m:oMath>
                  </m:oMathPara>
                </a14:m>
                <a:endParaRPr lang="en-US" sz="1600" i="1" noProof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AB616A0-4351-6535-F234-E84806FFD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8704" y="2682256"/>
                <a:ext cx="2834785" cy="2062103"/>
              </a:xfrm>
              <a:prstGeom prst="rect">
                <a:avLst/>
              </a:prstGeom>
              <a:blipFill>
                <a:blip r:embed="rId4"/>
                <a:stretch>
                  <a:fillRect t="-1227" r="-1786" b="-12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fik 10">
            <a:extLst>
              <a:ext uri="{FF2B5EF4-FFF2-40B4-BE49-F238E27FC236}">
                <a16:creationId xmlns:a16="http://schemas.microsoft.com/office/drawing/2014/main" id="{9922DC51-9A80-8A47-4B47-AAEA8905B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97" y="2687370"/>
            <a:ext cx="1802750" cy="2155710"/>
          </a:xfrm>
          <a:prstGeom prst="rect">
            <a:avLst/>
          </a:prstGeom>
          <a:ln>
            <a:noFill/>
          </a:ln>
        </p:spPr>
      </p:pic>
      <p:sp>
        <p:nvSpPr>
          <p:cNvPr id="15" name="Inhaltsplatzhalter 13">
            <a:extLst>
              <a:ext uri="{FF2B5EF4-FFF2-40B4-BE49-F238E27FC236}">
                <a16:creationId xmlns:a16="http://schemas.microsoft.com/office/drawing/2014/main" id="{31A7009D-C492-66EA-31B7-D0CA31B4C5E0}"/>
              </a:ext>
            </a:extLst>
          </p:cNvPr>
          <p:cNvSpPr txBox="1">
            <a:spLocks/>
          </p:cNvSpPr>
          <p:nvPr/>
        </p:nvSpPr>
        <p:spPr>
          <a:xfrm>
            <a:off x="406405" y="2160589"/>
            <a:ext cx="11377084" cy="408305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7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1999"/>
              </a:spcAft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2201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3" indent="-288003" algn="l" defTabSz="914407" rtl="0" eaLnBrk="1" latinLnBrk="0" hangingPunct="1">
              <a:lnSpc>
                <a:spcPct val="105000"/>
              </a:lnSpc>
              <a:spcBef>
                <a:spcPts val="599"/>
              </a:spcBef>
              <a:buClr>
                <a:schemeClr val="accent1"/>
              </a:buClr>
              <a:buFont typeface="Arial" panose="020B0604020202020204" pitchFamily="34" charset="0"/>
              <a:buChar char="&gt;"/>
              <a:tabLst>
                <a:tab pos="288003" algn="l"/>
                <a:tab pos="792005" algn="l"/>
              </a:tabLst>
              <a:defRPr sz="2201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1999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288003" indent="0" algn="l" defTabSz="914407" rtl="0" eaLnBrk="1" latinLnBrk="0" hangingPunct="1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1999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88003" indent="-288003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&gt;"/>
              <a:tabLst>
                <a:tab pos="288003" algn="l"/>
                <a:tab pos="792005" algn="l"/>
              </a:tabLst>
              <a:defRPr sz="19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4004" indent="-216001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"/>
              <a:tabLst>
                <a:tab pos="288003" algn="l"/>
                <a:tab pos="792005" algn="l"/>
              </a:tabLst>
              <a:defRPr sz="19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8003" indent="-288003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288003" algn="l"/>
                <a:tab pos="792005" algn="l"/>
              </a:tabLst>
              <a:defRPr sz="19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3" indent="0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19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19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sz="2200" b="1" noProof="0" dirty="0"/>
              <a:t>	   </a:t>
            </a:r>
            <a:r>
              <a:rPr lang="en-US" sz="2200" b="1" noProof="0" dirty="0">
                <a:solidFill>
                  <a:schemeClr val="tx1"/>
                </a:solidFill>
              </a:rPr>
              <a:t>Data	         Feature Reduction	  Encoding Circuit		Observable</a:t>
            </a:r>
          </a:p>
        </p:txBody>
      </p:sp>
      <p:sp>
        <p:nvSpPr>
          <p:cNvPr id="20" name="Gestreifter Pfeil nach rechts 19">
            <a:extLst>
              <a:ext uri="{FF2B5EF4-FFF2-40B4-BE49-F238E27FC236}">
                <a16:creationId xmlns:a16="http://schemas.microsoft.com/office/drawing/2014/main" id="{916EDA3A-8661-1ED1-F82E-24A46CAADBA1}"/>
              </a:ext>
            </a:extLst>
          </p:cNvPr>
          <p:cNvSpPr/>
          <p:nvPr/>
        </p:nvSpPr>
        <p:spPr>
          <a:xfrm>
            <a:off x="2364017" y="3601801"/>
            <a:ext cx="412725" cy="321734"/>
          </a:xfrm>
          <a:prstGeom prst="striped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Gestreifter Pfeil nach rechts 20">
            <a:extLst>
              <a:ext uri="{FF2B5EF4-FFF2-40B4-BE49-F238E27FC236}">
                <a16:creationId xmlns:a16="http://schemas.microsoft.com/office/drawing/2014/main" id="{1554726E-392C-8EFC-10BD-7E40BA610FFB}"/>
              </a:ext>
            </a:extLst>
          </p:cNvPr>
          <p:cNvSpPr/>
          <p:nvPr/>
        </p:nvSpPr>
        <p:spPr>
          <a:xfrm>
            <a:off x="8535975" y="3599183"/>
            <a:ext cx="412725" cy="321734"/>
          </a:xfrm>
          <a:prstGeom prst="striped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Gestreifter Pfeil nach rechts 21">
            <a:extLst>
              <a:ext uri="{FF2B5EF4-FFF2-40B4-BE49-F238E27FC236}">
                <a16:creationId xmlns:a16="http://schemas.microsoft.com/office/drawing/2014/main" id="{1BE28160-32A8-D631-EE13-F1A9C214152B}"/>
              </a:ext>
            </a:extLst>
          </p:cNvPr>
          <p:cNvSpPr/>
          <p:nvPr/>
        </p:nvSpPr>
        <p:spPr>
          <a:xfrm>
            <a:off x="5433462" y="3599183"/>
            <a:ext cx="412725" cy="321734"/>
          </a:xfrm>
          <a:prstGeom prst="striped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2177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4ADF93E-5BE7-FED2-11B8-A15A999BD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5551257-4A4C-AD3A-F2B7-281A54437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1AEACA-A3D3-64E0-73B1-333617441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5F8FE89-9E5A-6108-3F1A-5D9A7689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Final Pipeline</a:t>
            </a:r>
            <a:br>
              <a:rPr lang="en-US" noProof="0" dirty="0"/>
            </a:br>
            <a:r>
              <a:rPr lang="en-US" noProof="0" dirty="0"/>
              <a:t>&amp; Evaluation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7C25DBA-E7D4-9C30-B0B4-F33F69947A7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3"/>
            <a:r>
              <a:rPr lang="en-US" sz="2200" noProof="0" dirty="0"/>
              <a:t>Accuracy</a:t>
            </a:r>
          </a:p>
          <a:p>
            <a:pPr lvl="4"/>
            <a:r>
              <a:rPr lang="en-US" sz="2200" noProof="0" dirty="0"/>
              <a:t>Train: 0.95</a:t>
            </a:r>
          </a:p>
          <a:p>
            <a:pPr lvl="4"/>
            <a:r>
              <a:rPr lang="en-US" sz="2200" noProof="0" dirty="0"/>
              <a:t>Test: 0.94</a:t>
            </a:r>
          </a:p>
          <a:p>
            <a:pPr lvl="4"/>
            <a:endParaRPr lang="en-US" sz="2200" noProof="0" dirty="0"/>
          </a:p>
          <a:p>
            <a:pPr lvl="3"/>
            <a:r>
              <a:rPr lang="en-US" sz="2200" noProof="0" dirty="0"/>
              <a:t>Parameters</a:t>
            </a:r>
          </a:p>
          <a:p>
            <a:pPr lvl="4"/>
            <a:r>
              <a:rPr lang="en-US" sz="2200" noProof="0" dirty="0"/>
              <a:t>Circuit: 0</a:t>
            </a:r>
          </a:p>
          <a:p>
            <a:pPr lvl="4"/>
            <a:r>
              <a:rPr lang="en-US" sz="2200" noProof="0" dirty="0"/>
              <a:t>Operator: 160</a:t>
            </a:r>
          </a:p>
          <a:p>
            <a:pPr lvl="4"/>
            <a:endParaRPr lang="en-US" sz="2200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6BB1648-7329-544E-6D45-2736001227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428"/>
          <a:stretch>
            <a:fillRect/>
          </a:stretch>
        </p:blipFill>
        <p:spPr>
          <a:xfrm>
            <a:off x="7255933" y="2167048"/>
            <a:ext cx="4527556" cy="407659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A76C734-88B8-421B-1A11-033DFD42AE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428"/>
          <a:stretch>
            <a:fillRect/>
          </a:stretch>
        </p:blipFill>
        <p:spPr>
          <a:xfrm>
            <a:off x="2724396" y="2167048"/>
            <a:ext cx="4531537" cy="408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17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03EA9-3F2E-4AAF-F22D-2DB4E3C7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0D62681-DC5D-F5DD-5BC9-3D31943A2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8137879-005C-8DBB-4E13-9947741E9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901D49-D646-8EB7-3D48-73504F73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624230C-1A71-515A-8CBD-2D2B2754F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Final Pipeline</a:t>
            </a:r>
            <a:br>
              <a:rPr lang="en-US" noProof="0" dirty="0"/>
            </a:br>
            <a:r>
              <a:rPr lang="en-US" noProof="0" dirty="0"/>
              <a:t>&amp; Evaluation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D737C2F2-4C58-928C-6BA6-3E063C3FD793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1050495104"/>
              </p:ext>
            </p:extLst>
          </p:nvPr>
        </p:nvGraphicFramePr>
        <p:xfrm>
          <a:off x="406400" y="2160588"/>
          <a:ext cx="11377611" cy="29667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3792537">
                  <a:extLst>
                    <a:ext uri="{9D8B030D-6E8A-4147-A177-3AD203B41FA5}">
                      <a16:colId xmlns:a16="http://schemas.microsoft.com/office/drawing/2014/main" val="2916663462"/>
                    </a:ext>
                  </a:extLst>
                </a:gridCol>
                <a:gridCol w="3792537">
                  <a:extLst>
                    <a:ext uri="{9D8B030D-6E8A-4147-A177-3AD203B41FA5}">
                      <a16:colId xmlns:a16="http://schemas.microsoft.com/office/drawing/2014/main" val="2580917274"/>
                    </a:ext>
                  </a:extLst>
                </a:gridCol>
                <a:gridCol w="3792537">
                  <a:extLst>
                    <a:ext uri="{9D8B030D-6E8A-4147-A177-3AD203B41FA5}">
                      <a16:colId xmlns:a16="http://schemas.microsoft.com/office/drawing/2014/main" val="285972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Criteria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Quantum Neural Network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Logistic Regression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397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Train Accuracy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0.95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0.98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982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Test Accuracy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0.94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0.97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535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Feature Dimensionality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64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802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HPO Duration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8 h + 4 h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1.5 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61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Training Duration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20 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100 </a:t>
                      </a:r>
                      <a:r>
                        <a:rPr lang="en-US" noProof="0" dirty="0" err="1"/>
                        <a:t>ms</a:t>
                      </a:r>
                      <a:r>
                        <a:rPr lang="en-US" noProof="0" dirty="0"/>
                        <a:t>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220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Parameters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650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459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Inference Latency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20 </a:t>
                      </a:r>
                      <a:r>
                        <a:rPr lang="en-US" noProof="0" dirty="0" err="1"/>
                        <a:t>ms</a:t>
                      </a:r>
                      <a:endParaRPr lang="en-US" noProof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20 </a:t>
                      </a:r>
                      <a:r>
                        <a:rPr lang="en-US" noProof="0" dirty="0" err="1"/>
                        <a:t>ms</a:t>
                      </a:r>
                      <a:endParaRPr lang="en-US" noProof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752231"/>
                  </a:ext>
                </a:extLst>
              </a:tr>
            </a:tbl>
          </a:graphicData>
        </a:graphic>
      </p:graphicFrame>
      <p:pic>
        <p:nvPicPr>
          <p:cNvPr id="14" name="Grafik 13">
            <a:extLst>
              <a:ext uri="{FF2B5EF4-FFF2-40B4-BE49-F238E27FC236}">
                <a16:creationId xmlns:a16="http://schemas.microsoft.com/office/drawing/2014/main" id="{B79458D5-7ABA-757C-7363-F673DAD25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4818" y="2587400"/>
            <a:ext cx="262467" cy="262467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59F57D1-58DE-9D06-E3D2-6AA45DD61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4821" y="2944810"/>
            <a:ext cx="262467" cy="262467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B26EE86-0D94-D80B-0199-52A94283D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4821" y="3322632"/>
            <a:ext cx="262467" cy="26246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E1FBB7B-E942-26C7-DD07-BD72B0DB3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4821" y="3322632"/>
            <a:ext cx="262467" cy="26246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B457B78-5EC8-B3AB-758A-CCF33657C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4819" y="3683520"/>
            <a:ext cx="262467" cy="262467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6205F4C-D073-AFD9-0260-1E65F7D50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4818" y="4061342"/>
            <a:ext cx="262467" cy="262467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2BE47AB8-38DC-CD00-1EB8-2C53BCCCA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867" y="4433875"/>
            <a:ext cx="262467" cy="262467"/>
          </a:xfrm>
          <a:prstGeom prst="rect">
            <a:avLst/>
          </a:prstGeom>
        </p:spPr>
      </p:pic>
      <p:sp>
        <p:nvSpPr>
          <p:cNvPr id="21" name="Inhaltsplatzhalter 8">
            <a:extLst>
              <a:ext uri="{FF2B5EF4-FFF2-40B4-BE49-F238E27FC236}">
                <a16:creationId xmlns:a16="http://schemas.microsoft.com/office/drawing/2014/main" id="{2392D2B9-581A-9F06-D498-CFCDC4A1D6C8}"/>
              </a:ext>
            </a:extLst>
          </p:cNvPr>
          <p:cNvSpPr txBox="1">
            <a:spLocks/>
          </p:cNvSpPr>
          <p:nvPr/>
        </p:nvSpPr>
        <p:spPr>
          <a:xfrm>
            <a:off x="406405" y="5392420"/>
            <a:ext cx="11377084" cy="8512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7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1999"/>
              </a:spcAft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2201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3" indent="-288003" algn="l" defTabSz="914407" rtl="0" eaLnBrk="1" latinLnBrk="0" hangingPunct="1">
              <a:lnSpc>
                <a:spcPct val="105000"/>
              </a:lnSpc>
              <a:spcBef>
                <a:spcPts val="599"/>
              </a:spcBef>
              <a:buClr>
                <a:schemeClr val="accent1"/>
              </a:buClr>
              <a:buFont typeface="Arial" panose="020B0604020202020204" pitchFamily="34" charset="0"/>
              <a:buChar char="&gt;"/>
              <a:tabLst>
                <a:tab pos="288003" algn="l"/>
                <a:tab pos="792005" algn="l"/>
              </a:tabLst>
              <a:defRPr sz="2201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1999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288003" indent="0" algn="l" defTabSz="914407" rtl="0" eaLnBrk="1" latinLnBrk="0" hangingPunct="1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1999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88003" indent="-288003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&gt;"/>
              <a:tabLst>
                <a:tab pos="288003" algn="l"/>
                <a:tab pos="792005" algn="l"/>
              </a:tabLst>
              <a:defRPr sz="19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4004" indent="-216001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"/>
              <a:tabLst>
                <a:tab pos="288003" algn="l"/>
                <a:tab pos="792005" algn="l"/>
              </a:tabLst>
              <a:defRPr sz="19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8003" indent="-288003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288003" algn="l"/>
                <a:tab pos="792005" algn="l"/>
              </a:tabLst>
              <a:defRPr sz="19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3" indent="0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19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7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288003" algn="l"/>
                <a:tab pos="792005" algn="l"/>
              </a:tabLst>
              <a:defRPr sz="1999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 sz="2200" noProof="0" dirty="0"/>
              <a:t>There is no quantum advantage for handwritten digits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394136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D42D8-5AA9-2BF0-A01E-AF59CD07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E5B127F8-5D07-10FC-CEBF-D1E9DCB6B5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(Optional) Accelerated</a:t>
            </a:r>
            <a:br>
              <a:rPr lang="en-US" noProof="0" dirty="0"/>
            </a:br>
            <a:r>
              <a:rPr lang="en-US" noProof="0" dirty="0"/>
              <a:t>Hyperparameter Search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23B14353-622D-DF55-0674-6ADA2100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A2A65B3D-6121-E8A6-C542-AE6B8FA3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F42DACDF-C994-6947-AB20-34E0E37D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DDE32119-6BA8-B2AA-7117-ADEF465A20AE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r>
              <a:rPr lang="en-US" noProof="0" dirty="0"/>
              <a:t>Speeding up the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2650984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3650-626F-6DD7-FFDA-40831BEA7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5C08A70A-C40A-F38B-7F2E-507BD75E9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7B58C825-E118-5DBD-3C03-3A476538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F18225E6-5946-086D-BD80-3B4406328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52FE8D0-D69C-8C01-6F0A-D2C9EAF75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(Optional) Accelerated</a:t>
            </a:r>
            <a:br>
              <a:rPr lang="en-US" noProof="0" dirty="0"/>
            </a:br>
            <a:r>
              <a:rPr lang="en-US" noProof="0" dirty="0"/>
              <a:t>Hyperparameter Search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28BDD104-2BB7-7F53-2603-9920F61E8949}"/>
                  </a:ext>
                </a:extLst>
              </p:cNvPr>
              <p:cNvSpPr>
                <a:spLocks noGrp="1"/>
              </p:cNvSpPr>
              <p:nvPr>
                <p:ph idx="13"/>
              </p:nvPr>
            </p:nvSpPr>
            <p:spPr/>
            <p:txBody>
              <a:bodyPr/>
              <a:lstStyle/>
              <a:p>
                <a:pPr lvl="2"/>
                <a:r>
                  <a:rPr lang="en-US" sz="2200" b="1" noProof="0" dirty="0">
                    <a:solidFill>
                      <a:schemeClr val="tx1"/>
                    </a:solidFill>
                  </a:rPr>
                  <a:t>Hypothesis: </a:t>
                </a:r>
                <a:r>
                  <a:rPr lang="en-US" sz="2200" noProof="0" dirty="0">
                    <a:solidFill>
                      <a:schemeClr val="tx1"/>
                    </a:solidFill>
                  </a:rPr>
                  <a:t>We can approximately determine the accuracy of a non-parametrized encoding circuit and an observable by measuring the state vector and training a logistic regression model.</a:t>
                </a:r>
              </a:p>
              <a:p>
                <a:pPr lvl="3"/>
                <a:r>
                  <a:rPr lang="en-US" sz="2200" noProof="0" dirty="0"/>
                  <a:t>Example</a:t>
                </a:r>
              </a:p>
              <a:p>
                <a:pPr lvl="4"/>
                <a:r>
                  <a:rPr lang="en-US" sz="2200" noProof="0" dirty="0"/>
                  <a:t>Quantum: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b="0" i="1" noProof="0" smtClean="0">
                        <a:latin typeface="Cambria Math" panose="02040503050406030204" pitchFamily="18" charset="0"/>
                      </a:rPr>
                      <m:t>ZII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1" noProof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b="0" i="1" noProof="0" smtClean="0">
                        <a:latin typeface="Cambria Math" panose="02040503050406030204" pitchFamily="18" charset="0"/>
                      </a:rPr>
                      <m:t>IZ</m:t>
                    </m:r>
                    <m:r>
                      <m:rPr>
                        <m:sty m:val="p"/>
                      </m:rPr>
                      <a:rPr lang="en-US" sz="2200" i="1" noProof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1" noProof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b="0" i="1" noProof="0" smtClean="0">
                        <a:latin typeface="Cambria Math" panose="02040503050406030204" pitchFamily="18" charset="0"/>
                      </a:rPr>
                      <m:t>IIZ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1" noProof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1" noProof="0" smtClean="0">
                        <a:latin typeface="Cambria Math" panose="02040503050406030204" pitchFamily="18" charset="0"/>
                      </a:rPr>
                      <m:t>XII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1" noProof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b="0" i="1" noProof="0" smtClean="0">
                        <a:latin typeface="Cambria Math" panose="02040503050406030204" pitchFamily="18" charset="0"/>
                      </a:rPr>
                      <m:t>IX</m:t>
                    </m:r>
                    <m:r>
                      <m:rPr>
                        <m:sty m:val="p"/>
                      </m:rPr>
                      <a:rPr lang="en-US" sz="2200" i="1" noProof="0" smtClean="0">
                        <a:latin typeface="Cambria Math" panose="02040503050406030204" pitchFamily="18" charset="0"/>
                      </a:rPr>
                      <m:t>I</m:t>
                    </m:r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m:rPr>
                            <m:sty m:val="p"/>
                          </m:rPr>
                          <a:rPr lang="en-US" sz="2200" i="1" noProof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b="0" i="1" noProof="0" smtClean="0">
                        <a:latin typeface="Cambria Math" panose="02040503050406030204" pitchFamily="18" charset="0"/>
                      </a:rPr>
                      <m:t>IIX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1" noProof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b="0" i="1" noProof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 sz="2200" i="1" noProof="0" smtClean="0">
                        <a:latin typeface="Cambria Math" panose="02040503050406030204" pitchFamily="18" charset="0"/>
                      </a:rPr>
                      <m:t>II</m:t>
                    </m:r>
                  </m:oMath>
                </a14:m>
                <a:endParaRPr lang="en-US" sz="2200" noProof="0" dirty="0"/>
              </a:p>
              <a:p>
                <a:pPr lvl="4"/>
                <a:r>
                  <a:rPr lang="en-US" sz="2200" noProof="0" dirty="0"/>
                  <a:t>Classical: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m:rPr>
                            <m:sty m:val="p"/>
                          </m:rP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200" b="0" i="1" noProof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sz="2200" noProof="0" dirty="0"/>
              </a:p>
            </p:txBody>
          </p:sp>
        </mc:Choice>
        <mc:Fallback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28BDD104-2BB7-7F53-2603-9920F61E8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blipFill>
                <a:blip r:embed="rId2"/>
                <a:stretch>
                  <a:fillRect l="-1563" t="-18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Grafik 1">
            <a:extLst>
              <a:ext uri="{FF2B5EF4-FFF2-40B4-BE49-F238E27FC236}">
                <a16:creationId xmlns:a16="http://schemas.microsoft.com/office/drawing/2014/main" id="{7CA3EFE6-6D32-BED7-1058-D5E69C8A8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7" y="4596903"/>
            <a:ext cx="5139270" cy="164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69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BEA58-4222-0BD3-2D09-A5D9D48C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C6A6FFFF-0B1A-405C-3BC4-BBA5D8559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E288F99-7FC1-5BC8-0EE6-96E5150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69FD4A1-422A-8E94-1A1C-C162E01C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87E6559-2363-2BA2-F634-1298222CD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(Optional) Accelerated</a:t>
            </a:r>
            <a:br>
              <a:rPr lang="en-US" noProof="0" dirty="0"/>
            </a:br>
            <a:r>
              <a:rPr lang="en-US" noProof="0" dirty="0"/>
              <a:t>Hyperparameter Search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12711413-A7C1-619B-B0E4-EA5B3AA30231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406400" y="2213297"/>
            <a:ext cx="11377613" cy="397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540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52AECA44-6693-4EB7-B2B5-6A2C586FE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Campus Sontheim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90DBF1E-C4B8-4D3B-84CE-E6AD5C7EB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Nico Hofmann | M.Sc. Software Engineering | Winter Semester 2025/26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F034B9B7-B9EB-4395-8629-FCFEFC1B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 dirty="0"/>
              <a:t>|  </a:t>
            </a:r>
            <a:fld id="{E6B5151A-17C4-4431-8407-112C0160A8B6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30" name="Vertikaler Textplatzhalter 29"/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r>
              <a:rPr lang="en-US" noProof="0" dirty="0"/>
              <a:t>Please refer any questions to:				</a:t>
            </a:r>
          </a:p>
          <a:p>
            <a:pPr lvl="1"/>
            <a:r>
              <a:rPr lang="en-US" noProof="0" dirty="0"/>
              <a:t>Nico Hofmann</a:t>
            </a:r>
          </a:p>
          <a:p>
            <a:r>
              <a:rPr lang="en-US" noProof="0" dirty="0"/>
              <a:t>M.Sc. Software Engineering</a:t>
            </a:r>
          </a:p>
          <a:p>
            <a:r>
              <a:rPr lang="en-US" noProof="0" dirty="0"/>
              <a:t>nhofmann1@stud.hs-heilbronn.de</a:t>
            </a:r>
          </a:p>
        </p:txBody>
      </p:sp>
      <p:sp>
        <p:nvSpPr>
          <p:cNvPr id="24" name="Vertikaler Textplatzhalter 23"/>
          <p:cNvSpPr>
            <a:spLocks noGrp="1"/>
          </p:cNvSpPr>
          <p:nvPr>
            <p:ph type="body" orient="vert" idx="14"/>
          </p:nvPr>
        </p:nvSpPr>
        <p:spPr/>
        <p:txBody>
          <a:bodyPr/>
          <a:lstStyle/>
          <a:p>
            <a:r>
              <a:rPr lang="en-US" noProof="0" dirty="0"/>
              <a:t>Thank you!</a:t>
            </a:r>
          </a:p>
        </p:txBody>
      </p:sp>
      <p:pic>
        <p:nvPicPr>
          <p:cNvPr id="6" name="Bildplatzhalter 5"/>
          <p:cNvPicPr>
            <a:picLocks noGrp="1" noChangeAspect="1"/>
          </p:cNvPicPr>
          <p:nvPr>
            <p:ph type="pic" idx="15"/>
          </p:nvPr>
        </p:nvPicPr>
        <p:blipFill>
          <a:blip r:embed="rId3"/>
          <a:srcRect/>
          <a:stretch/>
        </p:blipFill>
        <p:spPr/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E775E53-762E-8B09-6DEB-C39F5769F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3844" y="4284000"/>
            <a:ext cx="1945226" cy="195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64677"/>
      </p:ext>
    </p:extLst>
  </p:cSld>
  <p:clrMapOvr>
    <a:masterClrMapping/>
  </p:clrMapOvr>
</p:sld>
</file>

<file path=ppt/theme/theme1.xml><?xml version="1.0" encoding="utf-8"?>
<a:theme xmlns:a="http://schemas.openxmlformats.org/drawingml/2006/main" name="PPT_HHN_16x9_EN_01">
  <a:themeElements>
    <a:clrScheme name="Hochschule Heilbronn PPT">
      <a:dk1>
        <a:sysClr val="windowText" lastClr="000000"/>
      </a:dk1>
      <a:lt1>
        <a:sysClr val="window" lastClr="FFFFFF"/>
      </a:lt1>
      <a:dk2>
        <a:srgbClr val="BCBCBC"/>
      </a:dk2>
      <a:lt2>
        <a:srgbClr val="747474"/>
      </a:lt2>
      <a:accent1>
        <a:srgbClr val="002896"/>
      </a:accent1>
      <a:accent2>
        <a:srgbClr val="667EC0"/>
      </a:accent2>
      <a:accent3>
        <a:srgbClr val="99A8D6"/>
      </a:accent3>
      <a:accent4>
        <a:srgbClr val="00727F"/>
      </a:accent4>
      <a:accent5>
        <a:srgbClr val="009BA6"/>
      </a:accent5>
      <a:accent6>
        <a:srgbClr val="7FCBD3"/>
      </a:accent6>
      <a:hlink>
        <a:srgbClr val="000000"/>
      </a:hlink>
      <a:folHlink>
        <a:srgbClr val="000000"/>
      </a:folHlink>
    </a:clrScheme>
    <a:fontScheme name="Hochschule Heilbron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0 | 40 | 150">
      <a:srgbClr val="002896"/>
    </a:custClr>
    <a:custClr name="0 | 159 | 213">
      <a:srgbClr val="009FD5"/>
    </a:custClr>
    <a:custClr name="0 | 114 |127">
      <a:srgbClr val="00727F"/>
    </a:custClr>
    <a:custClr name="255 | 158 | 0">
      <a:srgbClr val="FF9E00"/>
    </a:custClr>
    <a:custClr name="100 | 179 | 44">
      <a:srgbClr val="64B32C"/>
    </a:custClr>
    <a:custClr name="171 | 0 | 66">
      <a:srgbClr val="AB0042"/>
    </a:custClr>
    <a:custClr name="0 | 0 | 0">
      <a:srgbClr val="000000"/>
    </a:custClr>
    <a:custClr>
      <a:srgbClr val="FFFFFF"/>
    </a:custClr>
    <a:custClr name="255 | 255 | 255">
      <a:srgbClr val="FFFFFF"/>
    </a:custClr>
    <a:custClr name="255 | 255 | 255">
      <a:srgbClr val="FFFFFF"/>
    </a:custClr>
    <a:custClr name="102 | 126 | 192">
      <a:srgbClr val="667EC0"/>
    </a:custClr>
    <a:custClr name="96 | 198 | 239">
      <a:srgbClr val="60C6EF"/>
    </a:custClr>
    <a:custClr name="0 | 155 | 166">
      <a:srgbClr val="009BA6"/>
    </a:custClr>
    <a:custClr name="255 | 203 | 14">
      <a:srgbClr val="FFCB0E"/>
    </a:custClr>
    <a:custClr name="180 | 204 | 0">
      <a:srgbClr val="B4CC00"/>
    </a:custClr>
    <a:custClr name="220 | 55 | 105">
      <a:srgbClr val="DC3769"/>
    </a:custClr>
    <a:custClr name="116 | 116 | 116">
      <a:srgbClr val="747474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  <a:custClr name="153 | 168 | 214">
      <a:srgbClr val="99A8D6"/>
    </a:custClr>
    <a:custClr name="176 | 223 | 247">
      <a:srgbClr val="B0DFF7"/>
    </a:custClr>
    <a:custClr name="127 | 203 | 211">
      <a:srgbClr val="7FCBD3"/>
    </a:custClr>
    <a:custClr name="255 | 241 | 77">
      <a:srgbClr val="FFF14D"/>
    </a:custClr>
    <a:custClr name="234 | 228 | 72">
      <a:srgbClr val="EAE448"/>
    </a:custClr>
    <a:custClr name="235 | 142 | 178">
      <a:srgbClr val="EB8EB2"/>
    </a:custClr>
    <a:custClr name="188 | 188 | 188">
      <a:srgbClr val="BCBCBC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</a:custClrLst>
  <a:extLst>
    <a:ext uri="{05A4C25C-085E-4340-85A3-A5531E510DB2}">
      <thm15:themeFamily xmlns:thm15="http://schemas.microsoft.com/office/thememl/2012/main" name="PPT_HHN_16x9_EN_01_2025.potx" id="{AD63EC6D-B184-4AA2-907E-B8EAD6F8EEF8}" vid="{C8D29C0F-2C5B-4801-A87E-D3A544B3B4FC}"/>
    </a:ext>
  </a:extLst>
</a:theme>
</file>

<file path=ppt/theme/theme2.xml><?xml version="1.0" encoding="utf-8"?>
<a:theme xmlns:a="http://schemas.openxmlformats.org/drawingml/2006/main" name="1_PPT_HHN_16x9_EN_01">
  <a:themeElements>
    <a:clrScheme name="Hochschule Heilbronn PPT">
      <a:dk1>
        <a:sysClr val="windowText" lastClr="000000"/>
      </a:dk1>
      <a:lt1>
        <a:sysClr val="window" lastClr="FFFFFF"/>
      </a:lt1>
      <a:dk2>
        <a:srgbClr val="BCBCBC"/>
      </a:dk2>
      <a:lt2>
        <a:srgbClr val="747474"/>
      </a:lt2>
      <a:accent1>
        <a:srgbClr val="002896"/>
      </a:accent1>
      <a:accent2>
        <a:srgbClr val="667EC0"/>
      </a:accent2>
      <a:accent3>
        <a:srgbClr val="99A8D6"/>
      </a:accent3>
      <a:accent4>
        <a:srgbClr val="00727F"/>
      </a:accent4>
      <a:accent5>
        <a:srgbClr val="009BA6"/>
      </a:accent5>
      <a:accent6>
        <a:srgbClr val="7FCBD3"/>
      </a:accent6>
      <a:hlink>
        <a:srgbClr val="000000"/>
      </a:hlink>
      <a:folHlink>
        <a:srgbClr val="000000"/>
      </a:folHlink>
    </a:clrScheme>
    <a:fontScheme name="Hochschule Heilbron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0 | 40 | 150">
      <a:srgbClr val="002896"/>
    </a:custClr>
    <a:custClr name="0 | 159 | 213">
      <a:srgbClr val="009FD5"/>
    </a:custClr>
    <a:custClr name="0 | 114 |127">
      <a:srgbClr val="00727F"/>
    </a:custClr>
    <a:custClr name="255 | 158 | 0">
      <a:srgbClr val="FF9E00"/>
    </a:custClr>
    <a:custClr name="100 | 179 | 44">
      <a:srgbClr val="64B32C"/>
    </a:custClr>
    <a:custClr name="171 | 0 | 66">
      <a:srgbClr val="AB0042"/>
    </a:custClr>
    <a:custClr name="0 | 0 | 0">
      <a:srgbClr val="000000"/>
    </a:custClr>
    <a:custClr>
      <a:srgbClr val="FFFFFF"/>
    </a:custClr>
    <a:custClr name="255 | 255 | 255">
      <a:srgbClr val="FFFFFF"/>
    </a:custClr>
    <a:custClr name="255 | 255 | 255">
      <a:srgbClr val="FFFFFF"/>
    </a:custClr>
    <a:custClr name="102 | 126 | 192">
      <a:srgbClr val="667EC0"/>
    </a:custClr>
    <a:custClr name="96 | 198 | 239">
      <a:srgbClr val="60C6EF"/>
    </a:custClr>
    <a:custClr name="0 | 155 | 166">
      <a:srgbClr val="009BA6"/>
    </a:custClr>
    <a:custClr name="255 | 203 | 14">
      <a:srgbClr val="FFCB0E"/>
    </a:custClr>
    <a:custClr name="180 | 204 | 0">
      <a:srgbClr val="B4CC00"/>
    </a:custClr>
    <a:custClr name="220 | 55 | 105">
      <a:srgbClr val="DC3769"/>
    </a:custClr>
    <a:custClr name="116 | 116 | 116">
      <a:srgbClr val="747474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  <a:custClr name="153 | 168 | 214">
      <a:srgbClr val="99A8D6"/>
    </a:custClr>
    <a:custClr name="176 | 223 | 247">
      <a:srgbClr val="B0DFF7"/>
    </a:custClr>
    <a:custClr name="127 | 203 | 211">
      <a:srgbClr val="7FCBD3"/>
    </a:custClr>
    <a:custClr name="255 | 241 | 77">
      <a:srgbClr val="FFF14D"/>
    </a:custClr>
    <a:custClr name="234 | 228 | 72">
      <a:srgbClr val="EAE448"/>
    </a:custClr>
    <a:custClr name="235 | 142 | 178">
      <a:srgbClr val="EB8EB2"/>
    </a:custClr>
    <a:custClr name="188 | 188 | 188">
      <a:srgbClr val="BCBCBC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</a:custClrLst>
  <a:extLst>
    <a:ext uri="{05A4C25C-085E-4340-85A3-A5531E510DB2}">
      <thm15:themeFamily xmlns:thm15="http://schemas.microsoft.com/office/thememl/2012/main" name="PPT_HHN_16x9_EN_01_2025.potx" id="{AD63EC6D-B184-4AA2-907E-B8EAD6F8EEF8}" vid="{738DA3F1-C659-41EA-B2A2-9E705E5D0A91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PPT_HHN_16x9_EN_01</Template>
  <TotalTime>0</TotalTime>
  <Words>1303</Words>
  <Application>Microsoft Macintosh PowerPoint</Application>
  <PresentationFormat>Breitbild</PresentationFormat>
  <Paragraphs>213</Paragraphs>
  <Slides>28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28</vt:i4>
      </vt:variant>
    </vt:vector>
  </HeadingPairs>
  <TitlesOfParts>
    <vt:vector size="35" baseType="lpstr">
      <vt:lpstr>Arial</vt:lpstr>
      <vt:lpstr>Calibri</vt:lpstr>
      <vt:lpstr>Cambria Math</vt:lpstr>
      <vt:lpstr>Courier New</vt:lpstr>
      <vt:lpstr>Wingdings</vt:lpstr>
      <vt:lpstr>PPT_HHN_16x9_EN_01</vt:lpstr>
      <vt:lpstr>1_PPT_HHN_16x9_EN_01</vt:lpstr>
      <vt:lpstr>Quantum Machine Learning</vt:lpstr>
      <vt:lpstr>Agenda</vt:lpstr>
      <vt:lpstr>Dataset Exploration</vt:lpstr>
      <vt:lpstr>Dataset Exploration</vt:lpstr>
      <vt:lpstr>Dataset Exploration</vt:lpstr>
      <vt:lpstr>Dataset Exploration</vt:lpstr>
      <vt:lpstr>Feature Reduction</vt:lpstr>
      <vt:lpstr>Feature Reduction</vt:lpstr>
      <vt:lpstr>Feature Reduction</vt:lpstr>
      <vt:lpstr>Encoding Circuit Selection</vt:lpstr>
      <vt:lpstr>Encoding Circuit Selection</vt:lpstr>
      <vt:lpstr>Encoding Circuit Selection</vt:lpstr>
      <vt:lpstr>Encoding Circuit Selection</vt:lpstr>
      <vt:lpstr>Encoding Circuit Selection</vt:lpstr>
      <vt:lpstr>OBSERVABLE Selection</vt:lpstr>
      <vt:lpstr>Observable Selection</vt:lpstr>
      <vt:lpstr>Observable Selection</vt:lpstr>
      <vt:lpstr>Observable Selection</vt:lpstr>
      <vt:lpstr>Observable Selection</vt:lpstr>
      <vt:lpstr>Observable Selection</vt:lpstr>
      <vt:lpstr>Final Pipeline &amp; Evaluation</vt:lpstr>
      <vt:lpstr>Final Pipeline &amp; Evaluation</vt:lpstr>
      <vt:lpstr>Final Pipeline &amp; Evaluation</vt:lpstr>
      <vt:lpstr>Final Pipeline &amp; Evaluation</vt:lpstr>
      <vt:lpstr>(Optional) Accelerated Hyperparameter Search</vt:lpstr>
      <vt:lpstr>(Optional) Accelerated Hyperparameter Search</vt:lpstr>
      <vt:lpstr>(Optional) Accelerated Hyperparameter Search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Hofmann, Nico</dc:creator>
  <cp:lastModifiedBy>Hofmann, Nico</cp:lastModifiedBy>
  <cp:revision>12</cp:revision>
  <dcterms:created xsi:type="dcterms:W3CDTF">2026-01-10T09:27:09Z</dcterms:created>
  <dcterms:modified xsi:type="dcterms:W3CDTF">2026-01-11T21:03:20Z</dcterms:modified>
</cp:coreProperties>
</file>